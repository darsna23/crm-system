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0614d9b-c882-5bbd-9e44-99be3d4c0553}">
          <p14:sldIdLst>
            <p14:sldId id="256"/>
            <p14:sldId id="257"/>
            <p14:sldId id="258"/>
            <p14:sldId id="259"/>
          </p14:sldIdLst>
        </p14:section>
        <p14:section name="Design" id="{472776f5-98ac-330b-c041-2d2c0ea915ca}">
          <p14:sldIdLst>
            <p14:sldId id="260"/>
            <p14:sldId id="261"/>
            <p14:sldId id="262"/>
            <p14:sldId id="263"/>
          </p14:sldIdLst>
        </p14:section>
        <p14:section name="Implementation" id="{cac86342-d4bc-80b2-86f4-f47fc6d80d16}">
          <p14:sldIdLst>
            <p14:sldId id="264"/>
            <p14:sldId id="265"/>
            <p14:sldId id="266"/>
            <p14:sldId id="267"/>
            <p14:sldId id="268"/>
            <p14:sldId id="269"/>
          </p14:sldIdLst>
        </p14:section>
        <p14:section name="Closing" id="{379ef9e3-9537-974d-e7c3-81d1e28754e2}">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an AI powered CRM that helps a sales team manage customers, track deals through a pipeline and ask questions about their data. I built it during my internship at Infotact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small teams still use spreadsheets and chats. Data is scattered, there is no live view of deals, reports are manual, and online AI tools put customer data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main goals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web application with six modules that work together on the same MySQL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frontend calls Spring Boot REST APIs. Spring Security checks the JWT. Data is stored in MySQL through JPA. The AI service talks to Gemini or Ollama, and the report service uses Apache POI and OpenPDF.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is Java 17 with Spring Boot, frontend is React, database is MySQL, and AI uses Gemini or Ollama.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tables. One customer can have many leads. The lead stage is stored as an enum. Hibernate creates the tables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password is checked against a BCrypt hash. If it matches, the server signs a token with an expiry. The browser sends that token on every request and the filter validates it. Without a valid token the API returns 401.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reads one endpoint and shows totals plus a leads-by-stage chart. In my data there are 6 customers, 10 leads, 7 open, and 10 lakh rupees of won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can be added, edited, searched and deleted. Deleting a customer also deletes their leads inside one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lead has a title, a value in rupees, a stage and a linked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groups leads by stage with a count and a total value. The arrow buttons call one endpoint to change the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first builds a summary of live CRM data, adds the question, and sends it to the chosen provider. Gemini is fast, Ollama keeps data on the machine. One property switches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and PDF reports are generated on the server. I wrote thirteen functional test cases covering login, CRUD, pipeline, dashboard, AI and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gives a sales team one secure place for customers, deals and insights, with AI on top. Future work includes roles, drag and drop, email integration, forecasting and cloud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answer questions or give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1B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63093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1000" dirty="0">
                <a:solidFill>
                  <a:srgbClr val="6B7280"/>
                </a:solidFill>
              </a:rPr>
              <a:t>AI Powered CRM Sales Management System</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E1B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6309360" cy="1737360"/>
          </a:xfrm>
          <a:prstGeom prst="rect">
            <a:avLst/>
          </a:prstGeom>
          <a:noFill/>
          <a:ln/>
        </p:spPr>
        <p:txBody>
          <a:bodyPr wrap="square" lIns="0" tIns="0" rIns="0" bIns="0" rtlCol="0" anchor="t"/>
          <a:lstStyle/>
          <a:p>
            <a:pPr algn="l" indent="0" marL="0">
              <a:buNone/>
            </a:pPr>
            <a:r>
              <a:rPr lang="en-US" sz="4000" b="1" dirty="0">
                <a:solidFill>
                  <a:schemeClr val="bg1"/>
                </a:solidFill>
              </a:rPr>
              <a:t>AI Powered CRM Sales Management System</a:t>
            </a:r>
            <a:endParaRPr lang="en-US" sz="4000" dirty="0"/>
          </a:p>
        </p:txBody>
      </p:sp>
      <p:sp>
        <p:nvSpPr>
          <p:cNvPr id="4" name="Text 1"/>
          <p:cNvSpPr txBox="1"/>
          <p:nvPr/>
        </p:nvSpPr>
        <p:spPr>
          <a:xfrm>
            <a:off x="548640" y="2743200"/>
            <a:ext cx="6309360" cy="320040"/>
          </a:xfrm>
          <a:prstGeom prst="rect">
            <a:avLst/>
          </a:prstGeom>
          <a:noFill/>
          <a:ln/>
        </p:spPr>
        <p:txBody>
          <a:bodyPr wrap="square" lIns="0" tIns="0" rIns="0" bIns="0" rtlCol="0" anchor="t"/>
          <a:lstStyle/>
          <a:p>
            <a:pPr algn="l" indent="0" marL="0">
              <a:buNone/>
            </a:pPr>
            <a:r>
              <a:rPr lang="en-US" sz="1800" dirty="0">
                <a:solidFill>
                  <a:schemeClr val="bg1"/>
                </a:solidFill>
              </a:rPr>
              <a:t>Summer Internship Project  |  Infotact Solutions</a:t>
            </a:r>
            <a:endParaRPr lang="en-US" sz="1800" dirty="0"/>
          </a:p>
        </p:txBody>
      </p:sp>
      <p:sp>
        <p:nvSpPr>
          <p:cNvPr id="5" name="Text 2"/>
          <p:cNvSpPr txBox="1"/>
          <p:nvPr/>
        </p:nvSpPr>
        <p:spPr>
          <a:xfrm>
            <a:off x="548640" y="3291840"/>
            <a:ext cx="6309360" cy="1188720"/>
          </a:xfrm>
          <a:prstGeom prst="rect">
            <a:avLst/>
          </a:prstGeom>
          <a:noFill/>
          <a:ln/>
        </p:spPr>
        <p:txBody>
          <a:bodyPr wrap="square" lIns="0" tIns="0" rIns="0" bIns="0" rtlCol="0" anchor="t"/>
          <a:lstStyle/>
          <a:p>
            <a:pPr algn="l" indent="0" marL="0">
              <a:spcAft>
                <a:spcPts val="400"/>
              </a:spcAft>
              <a:buNone/>
            </a:pPr>
            <a:r>
              <a:rPr lang="en-US" sz="1400" b="1" dirty="0">
                <a:solidFill>
                  <a:schemeClr val="bg1"/>
                </a:solidFill>
              </a:rPr>
              <a:t>DARSNA S  |  810023104001</a:t>
            </a:r>
            <a:endParaRPr lang="en-US" sz="1400" dirty="0"/>
          </a:p>
          <a:p>
            <a:pPr algn="l" indent="0" marL="0">
              <a:spcAft>
                <a:spcPts val="400"/>
              </a:spcAft>
              <a:buNone/>
            </a:pPr>
            <a:r>
              <a:rPr lang="en-US" sz="1400" dirty="0">
                <a:solidFill>
                  <a:schemeClr val="bg1"/>
                </a:solidFill>
              </a:rPr>
              <a:t>B.E. Computer Science and Engineering, 2026-2027</a:t>
            </a:r>
            <a:endParaRPr lang="en-US" sz="1400" dirty="0"/>
          </a:p>
          <a:p>
            <a:pPr algn="l" indent="0" marL="0">
              <a:spcAft>
                <a:spcPts val="400"/>
              </a:spcAft>
              <a:buNone/>
            </a:pPr>
            <a:r>
              <a:rPr lang="en-US" sz="1400" dirty="0">
                <a:solidFill>
                  <a:schemeClr val="bg1"/>
                </a:solidFill>
              </a:rPr>
              <a:t>University College of Engineering (BIT Campus), Anna University, Tiruchirappalli</a:t>
            </a:r>
            <a:endParaRPr lang="en-US" sz="1400" dirty="0"/>
          </a:p>
        </p:txBody>
      </p:sp>
      <p:sp>
        <p:nvSpPr>
          <p:cNvPr id="6" name="Motif 0 circle"/>
          <p:cNvSpPr/>
          <p:nvPr/>
        </p:nvSpPr>
        <p:spPr>
          <a:xfrm>
            <a:off x="7498080" y="822960"/>
            <a:ext cx="1005840" cy="1005840"/>
          </a:xfrm>
          <a:prstGeom prst="ellipse">
            <a:avLst/>
          </a:prstGeom>
          <a:solidFill>
            <a:schemeClr val="accent1"/>
          </a:solidFill>
          <a:ln/>
        </p:spPr>
      </p:sp>
      <p:pic>
        <p:nvPicPr>
          <p:cNvPr id="7" name="Image 0" descr="Motif 0 icon">    </p:cNvPr>
          <p:cNvPicPr>
            <a:picLocks noChangeAspect="1"/>
          </p:cNvPicPr>
          <p:nvPr/>
        </p:nvPicPr>
        <p:blipFill>
          <a:blip r:embed="rId1"/>
          <a:stretch>
            <a:fillRect/>
          </a:stretch>
        </p:blipFill>
        <p:spPr>
          <a:xfrm>
            <a:off x="7749540" y="1074420"/>
            <a:ext cx="502920" cy="502920"/>
          </a:xfrm>
          <a:prstGeom prst="rect">
            <a:avLst/>
          </a:prstGeom>
        </p:spPr>
      </p:pic>
      <p:sp>
        <p:nvSpPr>
          <p:cNvPr id="8" name="Motif 1 circle"/>
          <p:cNvSpPr/>
          <p:nvPr/>
        </p:nvSpPr>
        <p:spPr>
          <a:xfrm>
            <a:off x="7498080" y="2194560"/>
            <a:ext cx="1005840" cy="1005840"/>
          </a:xfrm>
          <a:prstGeom prst="ellipse">
            <a:avLst/>
          </a:prstGeom>
          <a:solidFill>
            <a:schemeClr val="accent2"/>
          </a:solidFill>
          <a:ln/>
        </p:spPr>
      </p:sp>
      <p:pic>
        <p:nvPicPr>
          <p:cNvPr id="9" name="Image 1" descr="Motif 1 icon">    </p:cNvPr>
          <p:cNvPicPr>
            <a:picLocks noChangeAspect="1"/>
          </p:cNvPicPr>
          <p:nvPr/>
        </p:nvPicPr>
        <p:blipFill>
          <a:blip r:embed="rId2"/>
          <a:stretch>
            <a:fillRect/>
          </a:stretch>
        </p:blipFill>
        <p:spPr>
          <a:xfrm>
            <a:off x="7749540" y="2446020"/>
            <a:ext cx="502920" cy="502920"/>
          </a:xfrm>
          <a:prstGeom prst="rect">
            <a:avLst/>
          </a:prstGeom>
        </p:spPr>
      </p:pic>
      <p:sp>
        <p:nvSpPr>
          <p:cNvPr id="10" name="Motif 2 circle"/>
          <p:cNvSpPr/>
          <p:nvPr/>
        </p:nvSpPr>
        <p:spPr>
          <a:xfrm>
            <a:off x="7498080" y="3566160"/>
            <a:ext cx="1005840" cy="1005840"/>
          </a:xfrm>
          <a:prstGeom prst="ellipse">
            <a:avLst/>
          </a:prstGeom>
          <a:solidFill>
            <a:schemeClr val="accent4"/>
          </a:solidFill>
          <a:ln/>
        </p:spPr>
      </p:sp>
      <p:pic>
        <p:nvPicPr>
          <p:cNvPr id="11" name="Image 2" descr="Motif 2 icon">    </p:cNvPr>
          <p:cNvPicPr>
            <a:picLocks noChangeAspect="1"/>
          </p:cNvPicPr>
          <p:nvPr/>
        </p:nvPicPr>
        <p:blipFill>
          <a:blip r:embed="rId3"/>
          <a:stretch>
            <a:fillRect/>
          </a:stretch>
        </p:blipFill>
        <p:spPr>
          <a:xfrm>
            <a:off x="7749540" y="381762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The Problem Today</a:t>
            </a:r>
            <a:endParaRPr lang="en-US" sz="3600" dirty="0"/>
          </a:p>
        </p:txBody>
      </p:sp>
      <p:sp>
        <p:nvSpPr>
          <p:cNvPr id="4" name="Scattered data"/>
          <p:cNvSpPr/>
          <p:nvPr/>
        </p:nvSpPr>
        <p:spPr>
          <a:xfrm>
            <a:off x="457200" y="1188720"/>
            <a:ext cx="3931920" cy="1508760"/>
          </a:xfrm>
          <a:prstGeom prst="roundRect">
            <a:avLst>
              <a:gd name="adj" fmla="val 7273"/>
            </a:avLst>
          </a:prstGeom>
          <a:solidFill>
            <a:schemeClr val="bg2"/>
          </a:solidFill>
          <a:ln/>
        </p:spPr>
      </p:sp>
      <p:sp>
        <p:nvSpPr>
          <p:cNvPr id="5" name="Scattered data circle"/>
          <p:cNvSpPr/>
          <p:nvPr/>
        </p:nvSpPr>
        <p:spPr>
          <a:xfrm>
            <a:off x="731520" y="1627632"/>
            <a:ext cx="640080" cy="640080"/>
          </a:xfrm>
          <a:prstGeom prst="ellipse">
            <a:avLst/>
          </a:prstGeom>
          <a:solidFill>
            <a:schemeClr val="accent1"/>
          </a:solidFill>
          <a:ln/>
        </p:spPr>
      </p:sp>
      <p:pic>
        <p:nvPicPr>
          <p:cNvPr id="6" name="Image 0" descr="Scattered data icon">    </p:cNvPr>
          <p:cNvPicPr>
            <a:picLocks noChangeAspect="1"/>
          </p:cNvPicPr>
          <p:nvPr/>
        </p:nvPicPr>
        <p:blipFill>
          <a:blip r:embed="rId1"/>
          <a:stretch>
            <a:fillRect/>
          </a:stretch>
        </p:blipFill>
        <p:spPr>
          <a:xfrm>
            <a:off x="891540" y="1787652"/>
            <a:ext cx="320040" cy="320040"/>
          </a:xfrm>
          <a:prstGeom prst="rect">
            <a:avLst/>
          </a:prstGeom>
        </p:spPr>
      </p:pic>
      <p:sp>
        <p:nvSpPr>
          <p:cNvPr id="7" name="Text 3"/>
          <p:cNvSpPr txBox="1"/>
          <p:nvPr/>
        </p:nvSpPr>
        <p:spPr>
          <a:xfrm>
            <a:off x="1600200" y="1444752"/>
            <a:ext cx="2606040" cy="365760"/>
          </a:xfrm>
          <a:prstGeom prst="rect">
            <a:avLst/>
          </a:prstGeom>
          <a:noFill/>
          <a:ln/>
        </p:spPr>
        <p:txBody>
          <a:bodyPr wrap="square" lIns="0" tIns="0" rIns="0" bIns="0" rtlCol="0" anchor="t"/>
          <a:lstStyle/>
          <a:p>
            <a:pPr algn="l" indent="0" marL="0">
              <a:buNone/>
            </a:pPr>
            <a:r>
              <a:rPr lang="en-US" sz="1800" b="1" dirty="0">
                <a:solidFill>
                  <a:schemeClr val="tx2"/>
                </a:solidFill>
              </a:rPr>
              <a:t>Scattered data</a:t>
            </a:r>
            <a:endParaRPr lang="en-US" sz="1800" dirty="0"/>
          </a:p>
        </p:txBody>
      </p:sp>
      <p:sp>
        <p:nvSpPr>
          <p:cNvPr id="8" name="Text 4"/>
          <p:cNvSpPr txBox="1"/>
          <p:nvPr/>
        </p:nvSpPr>
        <p:spPr>
          <a:xfrm>
            <a:off x="1600200" y="1847088"/>
            <a:ext cx="2606040" cy="731520"/>
          </a:xfrm>
          <a:prstGeom prst="rect">
            <a:avLst/>
          </a:prstGeom>
          <a:noFill/>
          <a:ln/>
        </p:spPr>
        <p:txBody>
          <a:bodyPr wrap="square" lIns="0" tIns="0" rIns="0" bIns="0" rtlCol="0" anchor="t"/>
          <a:lstStyle/>
          <a:p>
            <a:pPr algn="l" indent="0" marL="0">
              <a:buNone/>
            </a:pPr>
            <a:r>
              <a:rPr lang="en-US" sz="1400" dirty="0">
                <a:solidFill>
                  <a:schemeClr val="tx1"/>
                </a:solidFill>
              </a:rPr>
              <a:t>Customers and deals spread over files, chats and notebooks</a:t>
            </a:r>
            <a:endParaRPr lang="en-US" sz="1400" dirty="0"/>
          </a:p>
        </p:txBody>
      </p:sp>
      <p:sp>
        <p:nvSpPr>
          <p:cNvPr id="9" name="No pipeline view"/>
          <p:cNvSpPr/>
          <p:nvPr/>
        </p:nvSpPr>
        <p:spPr>
          <a:xfrm>
            <a:off x="4754880" y="1188720"/>
            <a:ext cx="3931920" cy="1508760"/>
          </a:xfrm>
          <a:prstGeom prst="roundRect">
            <a:avLst>
              <a:gd name="adj" fmla="val 7273"/>
            </a:avLst>
          </a:prstGeom>
          <a:solidFill>
            <a:schemeClr val="bg2"/>
          </a:solidFill>
          <a:ln/>
        </p:spPr>
      </p:sp>
      <p:sp>
        <p:nvSpPr>
          <p:cNvPr id="10" name="No pipeline view circle"/>
          <p:cNvSpPr/>
          <p:nvPr/>
        </p:nvSpPr>
        <p:spPr>
          <a:xfrm>
            <a:off x="5029200" y="1627632"/>
            <a:ext cx="640080" cy="640080"/>
          </a:xfrm>
          <a:prstGeom prst="ellipse">
            <a:avLst/>
          </a:prstGeom>
          <a:solidFill>
            <a:schemeClr val="accent4"/>
          </a:solidFill>
          <a:ln/>
        </p:spPr>
      </p:sp>
      <p:pic>
        <p:nvPicPr>
          <p:cNvPr id="11" name="Image 1" descr="No pipeline view icon">    </p:cNvPr>
          <p:cNvPicPr>
            <a:picLocks noChangeAspect="1"/>
          </p:cNvPicPr>
          <p:nvPr/>
        </p:nvPicPr>
        <p:blipFill>
          <a:blip r:embed="rId2"/>
          <a:stretch>
            <a:fillRect/>
          </a:stretch>
        </p:blipFill>
        <p:spPr>
          <a:xfrm>
            <a:off x="5189220" y="1787652"/>
            <a:ext cx="320040" cy="320040"/>
          </a:xfrm>
          <a:prstGeom prst="rect">
            <a:avLst/>
          </a:prstGeom>
        </p:spPr>
      </p:pic>
      <p:sp>
        <p:nvSpPr>
          <p:cNvPr id="12" name="Text 7"/>
          <p:cNvSpPr txBox="1"/>
          <p:nvPr/>
        </p:nvSpPr>
        <p:spPr>
          <a:xfrm>
            <a:off x="5897880" y="1444752"/>
            <a:ext cx="2606040" cy="365760"/>
          </a:xfrm>
          <a:prstGeom prst="rect">
            <a:avLst/>
          </a:prstGeom>
          <a:noFill/>
          <a:ln/>
        </p:spPr>
        <p:txBody>
          <a:bodyPr wrap="square" lIns="0" tIns="0" rIns="0" bIns="0" rtlCol="0" anchor="t"/>
          <a:lstStyle/>
          <a:p>
            <a:pPr algn="l" indent="0" marL="0">
              <a:buNone/>
            </a:pPr>
            <a:r>
              <a:rPr lang="en-US" sz="1800" b="1" dirty="0">
                <a:solidFill>
                  <a:schemeClr val="tx2"/>
                </a:solidFill>
              </a:rPr>
              <a:t>No pipeline view</a:t>
            </a:r>
            <a:endParaRPr lang="en-US" sz="1800" dirty="0"/>
          </a:p>
        </p:txBody>
      </p:sp>
      <p:sp>
        <p:nvSpPr>
          <p:cNvPr id="13" name="Text 8"/>
          <p:cNvSpPr txBox="1"/>
          <p:nvPr/>
        </p:nvSpPr>
        <p:spPr>
          <a:xfrm>
            <a:off x="5897880" y="1847088"/>
            <a:ext cx="2606040" cy="731520"/>
          </a:xfrm>
          <a:prstGeom prst="rect">
            <a:avLst/>
          </a:prstGeom>
          <a:noFill/>
          <a:ln/>
        </p:spPr>
        <p:txBody>
          <a:bodyPr wrap="square" lIns="0" tIns="0" rIns="0" bIns="0" rtlCol="0" anchor="t"/>
          <a:lstStyle/>
          <a:p>
            <a:pPr algn="l" indent="0" marL="0">
              <a:buNone/>
            </a:pPr>
            <a:r>
              <a:rPr lang="en-US" sz="1400" dirty="0">
                <a:solidFill>
                  <a:schemeClr val="tx1"/>
                </a:solidFill>
              </a:rPr>
              <a:t>Hard to see how many deals sit at each stage</a:t>
            </a:r>
            <a:endParaRPr lang="en-US" sz="1400" dirty="0"/>
          </a:p>
        </p:txBody>
      </p:sp>
      <p:sp>
        <p:nvSpPr>
          <p:cNvPr id="14" name="Manual reports"/>
          <p:cNvSpPr/>
          <p:nvPr/>
        </p:nvSpPr>
        <p:spPr>
          <a:xfrm>
            <a:off x="457200" y="2971800"/>
            <a:ext cx="3931920" cy="1508760"/>
          </a:xfrm>
          <a:prstGeom prst="roundRect">
            <a:avLst>
              <a:gd name="adj" fmla="val 7273"/>
            </a:avLst>
          </a:prstGeom>
          <a:solidFill>
            <a:schemeClr val="bg2"/>
          </a:solidFill>
          <a:ln/>
        </p:spPr>
      </p:sp>
      <p:sp>
        <p:nvSpPr>
          <p:cNvPr id="15" name="Manual reports circle"/>
          <p:cNvSpPr/>
          <p:nvPr/>
        </p:nvSpPr>
        <p:spPr>
          <a:xfrm>
            <a:off x="731520" y="3410712"/>
            <a:ext cx="640080" cy="640080"/>
          </a:xfrm>
          <a:prstGeom prst="ellipse">
            <a:avLst/>
          </a:prstGeom>
          <a:solidFill>
            <a:schemeClr val="accent3"/>
          </a:solidFill>
          <a:ln/>
        </p:spPr>
      </p:sp>
      <p:pic>
        <p:nvPicPr>
          <p:cNvPr id="16" name="Image 2" descr="Manual reports icon">    </p:cNvPr>
          <p:cNvPicPr>
            <a:picLocks noChangeAspect="1"/>
          </p:cNvPicPr>
          <p:nvPr/>
        </p:nvPicPr>
        <p:blipFill>
          <a:blip r:embed="rId3"/>
          <a:stretch>
            <a:fillRect/>
          </a:stretch>
        </p:blipFill>
        <p:spPr>
          <a:xfrm>
            <a:off x="891540" y="3570732"/>
            <a:ext cx="320040" cy="320040"/>
          </a:xfrm>
          <a:prstGeom prst="rect">
            <a:avLst/>
          </a:prstGeom>
        </p:spPr>
      </p:pic>
      <p:sp>
        <p:nvSpPr>
          <p:cNvPr id="17" name="Text 11"/>
          <p:cNvSpPr txBox="1"/>
          <p:nvPr/>
        </p:nvSpPr>
        <p:spPr>
          <a:xfrm>
            <a:off x="1600200" y="3227832"/>
            <a:ext cx="2606040" cy="365760"/>
          </a:xfrm>
          <a:prstGeom prst="rect">
            <a:avLst/>
          </a:prstGeom>
          <a:noFill/>
          <a:ln/>
        </p:spPr>
        <p:txBody>
          <a:bodyPr wrap="square" lIns="0" tIns="0" rIns="0" bIns="0" rtlCol="0" anchor="t"/>
          <a:lstStyle/>
          <a:p>
            <a:pPr algn="l" indent="0" marL="0">
              <a:buNone/>
            </a:pPr>
            <a:r>
              <a:rPr lang="en-US" sz="1800" b="1" dirty="0">
                <a:solidFill>
                  <a:schemeClr val="tx2"/>
                </a:solidFill>
              </a:rPr>
              <a:t>Manual reports</a:t>
            </a:r>
            <a:endParaRPr lang="en-US" sz="1800" dirty="0"/>
          </a:p>
        </p:txBody>
      </p:sp>
      <p:sp>
        <p:nvSpPr>
          <p:cNvPr id="18" name="Text 12"/>
          <p:cNvSpPr txBox="1"/>
          <p:nvPr/>
        </p:nvSpPr>
        <p:spPr>
          <a:xfrm>
            <a:off x="1600200" y="3630168"/>
            <a:ext cx="2606040" cy="731520"/>
          </a:xfrm>
          <a:prstGeom prst="rect">
            <a:avLst/>
          </a:prstGeom>
          <a:noFill/>
          <a:ln/>
        </p:spPr>
        <p:txBody>
          <a:bodyPr wrap="square" lIns="0" tIns="0" rIns="0" bIns="0" rtlCol="0" anchor="t"/>
          <a:lstStyle/>
          <a:p>
            <a:pPr algn="l" indent="0" marL="0">
              <a:buNone/>
            </a:pPr>
            <a:r>
              <a:rPr lang="en-US" sz="1400" dirty="0">
                <a:solidFill>
                  <a:schemeClr val="tx1"/>
                </a:solidFill>
              </a:rPr>
              <a:t>Weekly summaries take hours and invite errors</a:t>
            </a:r>
            <a:endParaRPr lang="en-US" sz="1400" dirty="0"/>
          </a:p>
        </p:txBody>
      </p:sp>
      <p:sp>
        <p:nvSpPr>
          <p:cNvPr id="19" name="Privacy risk"/>
          <p:cNvSpPr/>
          <p:nvPr/>
        </p:nvSpPr>
        <p:spPr>
          <a:xfrm>
            <a:off x="4754880" y="2971800"/>
            <a:ext cx="3931920" cy="1508760"/>
          </a:xfrm>
          <a:prstGeom prst="roundRect">
            <a:avLst>
              <a:gd name="adj" fmla="val 7273"/>
            </a:avLst>
          </a:prstGeom>
          <a:solidFill>
            <a:schemeClr val="bg2"/>
          </a:solidFill>
          <a:ln/>
        </p:spPr>
      </p:sp>
      <p:sp>
        <p:nvSpPr>
          <p:cNvPr id="20" name="Privacy risk circle"/>
          <p:cNvSpPr/>
          <p:nvPr/>
        </p:nvSpPr>
        <p:spPr>
          <a:xfrm>
            <a:off x="5029200" y="3410712"/>
            <a:ext cx="640080" cy="640080"/>
          </a:xfrm>
          <a:prstGeom prst="ellipse">
            <a:avLst/>
          </a:prstGeom>
          <a:solidFill>
            <a:schemeClr val="accent6"/>
          </a:solidFill>
          <a:ln/>
        </p:spPr>
      </p:sp>
      <p:pic>
        <p:nvPicPr>
          <p:cNvPr id="21" name="Image 3" descr="Privacy risk icon">    </p:cNvPr>
          <p:cNvPicPr>
            <a:picLocks noChangeAspect="1"/>
          </p:cNvPicPr>
          <p:nvPr/>
        </p:nvPicPr>
        <p:blipFill>
          <a:blip r:embed="rId4"/>
          <a:stretch>
            <a:fillRect/>
          </a:stretch>
        </p:blipFill>
        <p:spPr>
          <a:xfrm>
            <a:off x="5189220" y="3570732"/>
            <a:ext cx="320040" cy="320040"/>
          </a:xfrm>
          <a:prstGeom prst="rect">
            <a:avLst/>
          </a:prstGeom>
        </p:spPr>
      </p:pic>
      <p:sp>
        <p:nvSpPr>
          <p:cNvPr id="22" name="Text 15"/>
          <p:cNvSpPr txBox="1"/>
          <p:nvPr/>
        </p:nvSpPr>
        <p:spPr>
          <a:xfrm>
            <a:off x="5897880" y="3227832"/>
            <a:ext cx="2606040" cy="365760"/>
          </a:xfrm>
          <a:prstGeom prst="rect">
            <a:avLst/>
          </a:prstGeom>
          <a:noFill/>
          <a:ln/>
        </p:spPr>
        <p:txBody>
          <a:bodyPr wrap="square" lIns="0" tIns="0" rIns="0" bIns="0" rtlCol="0" anchor="t"/>
          <a:lstStyle/>
          <a:p>
            <a:pPr algn="l" indent="0" marL="0">
              <a:buNone/>
            </a:pPr>
            <a:r>
              <a:rPr lang="en-US" sz="1800" b="1" dirty="0">
                <a:solidFill>
                  <a:schemeClr val="tx2"/>
                </a:solidFill>
              </a:rPr>
              <a:t>Privacy risk</a:t>
            </a:r>
            <a:endParaRPr lang="en-US" sz="1800" dirty="0"/>
          </a:p>
        </p:txBody>
      </p:sp>
      <p:sp>
        <p:nvSpPr>
          <p:cNvPr id="23" name="Text 16"/>
          <p:cNvSpPr txBox="1"/>
          <p:nvPr/>
        </p:nvSpPr>
        <p:spPr>
          <a:xfrm>
            <a:off x="5897880" y="3630168"/>
            <a:ext cx="2606040" cy="731520"/>
          </a:xfrm>
          <a:prstGeom prst="rect">
            <a:avLst/>
          </a:prstGeom>
          <a:noFill/>
          <a:ln/>
        </p:spPr>
        <p:txBody>
          <a:bodyPr wrap="square" lIns="0" tIns="0" rIns="0" bIns="0" rtlCol="0" anchor="t"/>
          <a:lstStyle/>
          <a:p>
            <a:pPr algn="l" indent="0" marL="0">
              <a:buNone/>
            </a:pPr>
            <a:r>
              <a:rPr lang="en-US" sz="1400" dirty="0">
                <a:solidFill>
                  <a:schemeClr val="tx1"/>
                </a:solidFill>
              </a:rPr>
              <a:t>Sending business data to online AI tools exposes it</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Project Objectives</a:t>
            </a:r>
            <a:endParaRPr lang="en-US" sz="3600" dirty="0"/>
          </a:p>
        </p:txBody>
      </p:sp>
      <p:sp>
        <p:nvSpPr>
          <p:cNvPr id="4" name="Objective 1"/>
          <p:cNvSpPr/>
          <p:nvPr/>
        </p:nvSpPr>
        <p:spPr>
          <a:xfrm>
            <a:off x="457200" y="1188720"/>
            <a:ext cx="3931920" cy="960120"/>
          </a:xfrm>
          <a:prstGeom prst="roundRect">
            <a:avLst>
              <a:gd name="adj" fmla="val 11429"/>
            </a:avLst>
          </a:prstGeom>
          <a:solidFill>
            <a:schemeClr val="bg2"/>
          </a:solidFill>
          <a:ln/>
        </p:spPr>
      </p:sp>
      <p:sp>
        <p:nvSpPr>
          <p:cNvPr id="5" name="Step 1"/>
          <p:cNvSpPr/>
          <p:nvPr/>
        </p:nvSpPr>
        <p:spPr>
          <a:xfrm>
            <a:off x="640080" y="1394460"/>
            <a:ext cx="548640" cy="548640"/>
          </a:xfrm>
          <a:prstGeom prst="ellipse">
            <a:avLst/>
          </a:prstGeom>
          <a:solidFill>
            <a:schemeClr val="accent1"/>
          </a:solidFill>
          <a:ln/>
        </p:spPr>
      </p:sp>
      <p:sp>
        <p:nvSpPr>
          <p:cNvPr id="6" name="Text 3"/>
          <p:cNvSpPr txBox="1"/>
          <p:nvPr/>
        </p:nvSpPr>
        <p:spPr>
          <a:xfrm>
            <a:off x="640080" y="13944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371600" y="1188720"/>
            <a:ext cx="2880360" cy="960120"/>
          </a:xfrm>
          <a:prstGeom prst="rect">
            <a:avLst/>
          </a:prstGeom>
          <a:noFill/>
          <a:ln/>
        </p:spPr>
        <p:txBody>
          <a:bodyPr wrap="square" lIns="0" tIns="0" rIns="0" bIns="0" rtlCol="0" anchor="ctr"/>
          <a:lstStyle/>
          <a:p>
            <a:pPr algn="l" indent="0" marL="0">
              <a:buNone/>
            </a:pPr>
            <a:r>
              <a:rPr lang="en-US" sz="1400" dirty="0">
                <a:solidFill>
                  <a:schemeClr val="tx1"/>
                </a:solidFill>
              </a:rPr>
              <a:t>Secure JWT login with BCrypt password hashing</a:t>
            </a:r>
            <a:endParaRPr lang="en-US" sz="1400" dirty="0"/>
          </a:p>
        </p:txBody>
      </p:sp>
      <p:sp>
        <p:nvSpPr>
          <p:cNvPr id="8" name="Objective 2"/>
          <p:cNvSpPr/>
          <p:nvPr/>
        </p:nvSpPr>
        <p:spPr>
          <a:xfrm>
            <a:off x="4754880" y="1188720"/>
            <a:ext cx="3931920" cy="960120"/>
          </a:xfrm>
          <a:prstGeom prst="roundRect">
            <a:avLst>
              <a:gd name="adj" fmla="val 11429"/>
            </a:avLst>
          </a:prstGeom>
          <a:solidFill>
            <a:schemeClr val="bg2"/>
          </a:solidFill>
          <a:ln/>
        </p:spPr>
      </p:sp>
      <p:sp>
        <p:nvSpPr>
          <p:cNvPr id="9" name="Step 2"/>
          <p:cNvSpPr/>
          <p:nvPr/>
        </p:nvSpPr>
        <p:spPr>
          <a:xfrm>
            <a:off x="4937760" y="1394460"/>
            <a:ext cx="548640" cy="548640"/>
          </a:xfrm>
          <a:prstGeom prst="ellipse">
            <a:avLst/>
          </a:prstGeom>
          <a:solidFill>
            <a:schemeClr val="accent1"/>
          </a:solidFill>
          <a:ln/>
        </p:spPr>
      </p:sp>
      <p:sp>
        <p:nvSpPr>
          <p:cNvPr id="10" name="Text 7"/>
          <p:cNvSpPr txBox="1"/>
          <p:nvPr/>
        </p:nvSpPr>
        <p:spPr>
          <a:xfrm>
            <a:off x="4937760" y="13944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5669280" y="1188720"/>
            <a:ext cx="2880360" cy="960120"/>
          </a:xfrm>
          <a:prstGeom prst="rect">
            <a:avLst/>
          </a:prstGeom>
          <a:noFill/>
          <a:ln/>
        </p:spPr>
        <p:txBody>
          <a:bodyPr wrap="square" lIns="0" tIns="0" rIns="0" bIns="0" rtlCol="0" anchor="ctr"/>
          <a:lstStyle/>
          <a:p>
            <a:pPr algn="l" indent="0" marL="0">
              <a:buNone/>
            </a:pPr>
            <a:r>
              <a:rPr lang="en-US" sz="1400" dirty="0">
                <a:solidFill>
                  <a:schemeClr val="tx1"/>
                </a:solidFill>
              </a:rPr>
              <a:t>Full create, read, update, delete for customers and leads</a:t>
            </a:r>
            <a:endParaRPr lang="en-US" sz="1400" dirty="0"/>
          </a:p>
        </p:txBody>
      </p:sp>
      <p:sp>
        <p:nvSpPr>
          <p:cNvPr id="12" name="Objective 3"/>
          <p:cNvSpPr/>
          <p:nvPr/>
        </p:nvSpPr>
        <p:spPr>
          <a:xfrm>
            <a:off x="457200" y="2331720"/>
            <a:ext cx="3931920" cy="960120"/>
          </a:xfrm>
          <a:prstGeom prst="roundRect">
            <a:avLst>
              <a:gd name="adj" fmla="val 11429"/>
            </a:avLst>
          </a:prstGeom>
          <a:solidFill>
            <a:schemeClr val="bg2"/>
          </a:solidFill>
          <a:ln/>
        </p:spPr>
      </p:sp>
      <p:sp>
        <p:nvSpPr>
          <p:cNvPr id="13" name="Step 3"/>
          <p:cNvSpPr/>
          <p:nvPr/>
        </p:nvSpPr>
        <p:spPr>
          <a:xfrm>
            <a:off x="640080" y="2537460"/>
            <a:ext cx="548640" cy="548640"/>
          </a:xfrm>
          <a:prstGeom prst="ellipse">
            <a:avLst/>
          </a:prstGeom>
          <a:solidFill>
            <a:schemeClr val="accent1"/>
          </a:solidFill>
          <a:ln/>
        </p:spPr>
      </p:sp>
      <p:sp>
        <p:nvSpPr>
          <p:cNvPr id="14" name="Text 11"/>
          <p:cNvSpPr txBox="1"/>
          <p:nvPr/>
        </p:nvSpPr>
        <p:spPr>
          <a:xfrm>
            <a:off x="640080" y="25374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1371600" y="2331720"/>
            <a:ext cx="2880360" cy="960120"/>
          </a:xfrm>
          <a:prstGeom prst="rect">
            <a:avLst/>
          </a:prstGeom>
          <a:noFill/>
          <a:ln/>
        </p:spPr>
        <p:txBody>
          <a:bodyPr wrap="square" lIns="0" tIns="0" rIns="0" bIns="0" rtlCol="0" anchor="ctr"/>
          <a:lstStyle/>
          <a:p>
            <a:pPr algn="l" indent="0" marL="0">
              <a:buNone/>
            </a:pPr>
            <a:r>
              <a:rPr lang="en-US" sz="1400" dirty="0">
                <a:solidFill>
                  <a:schemeClr val="tx1"/>
                </a:solidFill>
              </a:rPr>
              <a:t>Six-stage sales pipeline with one-click moves</a:t>
            </a:r>
            <a:endParaRPr lang="en-US" sz="1400" dirty="0"/>
          </a:p>
        </p:txBody>
      </p:sp>
      <p:sp>
        <p:nvSpPr>
          <p:cNvPr id="16" name="Objective 4"/>
          <p:cNvSpPr/>
          <p:nvPr/>
        </p:nvSpPr>
        <p:spPr>
          <a:xfrm>
            <a:off x="4754880" y="2331720"/>
            <a:ext cx="3931920" cy="960120"/>
          </a:xfrm>
          <a:prstGeom prst="roundRect">
            <a:avLst>
              <a:gd name="adj" fmla="val 11429"/>
            </a:avLst>
          </a:prstGeom>
          <a:solidFill>
            <a:schemeClr val="bg2"/>
          </a:solidFill>
          <a:ln/>
        </p:spPr>
      </p:sp>
      <p:sp>
        <p:nvSpPr>
          <p:cNvPr id="17" name="Step 4"/>
          <p:cNvSpPr/>
          <p:nvPr/>
        </p:nvSpPr>
        <p:spPr>
          <a:xfrm>
            <a:off x="4937760" y="2537460"/>
            <a:ext cx="548640" cy="548640"/>
          </a:xfrm>
          <a:prstGeom prst="ellipse">
            <a:avLst/>
          </a:prstGeom>
          <a:solidFill>
            <a:schemeClr val="accent1"/>
          </a:solidFill>
          <a:ln/>
        </p:spPr>
      </p:sp>
      <p:sp>
        <p:nvSpPr>
          <p:cNvPr id="18" name="Text 15"/>
          <p:cNvSpPr txBox="1"/>
          <p:nvPr/>
        </p:nvSpPr>
        <p:spPr>
          <a:xfrm>
            <a:off x="4937760" y="25374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5669280" y="2331720"/>
            <a:ext cx="2880360" cy="960120"/>
          </a:xfrm>
          <a:prstGeom prst="rect">
            <a:avLst/>
          </a:prstGeom>
          <a:noFill/>
          <a:ln/>
        </p:spPr>
        <p:txBody>
          <a:bodyPr wrap="square" lIns="0" tIns="0" rIns="0" bIns="0" rtlCol="0" anchor="ctr"/>
          <a:lstStyle/>
          <a:p>
            <a:pPr algn="l" indent="0" marL="0">
              <a:buNone/>
            </a:pPr>
            <a:r>
              <a:rPr lang="en-US" sz="1400" dirty="0">
                <a:solidFill>
                  <a:schemeClr val="tx1"/>
                </a:solidFill>
              </a:rPr>
              <a:t>Live dashboard: customers, leads and won revenue</a:t>
            </a:r>
            <a:endParaRPr lang="en-US" sz="1400" dirty="0"/>
          </a:p>
        </p:txBody>
      </p:sp>
      <p:sp>
        <p:nvSpPr>
          <p:cNvPr id="20" name="Objective 5"/>
          <p:cNvSpPr/>
          <p:nvPr/>
        </p:nvSpPr>
        <p:spPr>
          <a:xfrm>
            <a:off x="457200" y="3474720"/>
            <a:ext cx="3931920" cy="960120"/>
          </a:xfrm>
          <a:prstGeom prst="roundRect">
            <a:avLst>
              <a:gd name="adj" fmla="val 11429"/>
            </a:avLst>
          </a:prstGeom>
          <a:solidFill>
            <a:schemeClr val="bg2"/>
          </a:solidFill>
          <a:ln/>
        </p:spPr>
      </p:sp>
      <p:sp>
        <p:nvSpPr>
          <p:cNvPr id="21" name="Step 5"/>
          <p:cNvSpPr/>
          <p:nvPr/>
        </p:nvSpPr>
        <p:spPr>
          <a:xfrm>
            <a:off x="640080" y="3680460"/>
            <a:ext cx="548640" cy="548640"/>
          </a:xfrm>
          <a:prstGeom prst="ellipse">
            <a:avLst/>
          </a:prstGeom>
          <a:solidFill>
            <a:schemeClr val="accent1"/>
          </a:solidFill>
          <a:ln/>
        </p:spPr>
      </p:sp>
      <p:sp>
        <p:nvSpPr>
          <p:cNvPr id="22" name="Text 19"/>
          <p:cNvSpPr txBox="1"/>
          <p:nvPr/>
        </p:nvSpPr>
        <p:spPr>
          <a:xfrm>
            <a:off x="640080" y="36804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0"/>
          <p:cNvSpPr txBox="1"/>
          <p:nvPr/>
        </p:nvSpPr>
        <p:spPr>
          <a:xfrm>
            <a:off x="1371600" y="3474720"/>
            <a:ext cx="2880360" cy="960120"/>
          </a:xfrm>
          <a:prstGeom prst="rect">
            <a:avLst/>
          </a:prstGeom>
          <a:noFill/>
          <a:ln/>
        </p:spPr>
        <p:txBody>
          <a:bodyPr wrap="square" lIns="0" tIns="0" rIns="0" bIns="0" rtlCol="0" anchor="ctr"/>
          <a:lstStyle/>
          <a:p>
            <a:pPr algn="l" indent="0" marL="0">
              <a:buNone/>
            </a:pPr>
            <a:r>
              <a:rPr lang="en-US" sz="1400" dirty="0">
                <a:solidFill>
                  <a:schemeClr val="tx1"/>
                </a:solidFill>
              </a:rPr>
              <a:t>AI assistant for questions on CRM data (Gemini or Ollama)</a:t>
            </a:r>
            <a:endParaRPr lang="en-US" sz="1400" dirty="0"/>
          </a:p>
        </p:txBody>
      </p:sp>
      <p:sp>
        <p:nvSpPr>
          <p:cNvPr id="24" name="Objective 6"/>
          <p:cNvSpPr/>
          <p:nvPr/>
        </p:nvSpPr>
        <p:spPr>
          <a:xfrm>
            <a:off x="4754880" y="3474720"/>
            <a:ext cx="3931920" cy="960120"/>
          </a:xfrm>
          <a:prstGeom prst="roundRect">
            <a:avLst>
              <a:gd name="adj" fmla="val 11429"/>
            </a:avLst>
          </a:prstGeom>
          <a:solidFill>
            <a:schemeClr val="bg2"/>
          </a:solidFill>
          <a:ln/>
        </p:spPr>
      </p:sp>
      <p:sp>
        <p:nvSpPr>
          <p:cNvPr id="25" name="Step 6"/>
          <p:cNvSpPr/>
          <p:nvPr/>
        </p:nvSpPr>
        <p:spPr>
          <a:xfrm>
            <a:off x="4937760" y="3680460"/>
            <a:ext cx="548640" cy="548640"/>
          </a:xfrm>
          <a:prstGeom prst="ellipse">
            <a:avLst/>
          </a:prstGeom>
          <a:solidFill>
            <a:schemeClr val="accent1"/>
          </a:solidFill>
          <a:ln/>
        </p:spPr>
      </p:sp>
      <p:sp>
        <p:nvSpPr>
          <p:cNvPr id="26" name="Text 23"/>
          <p:cNvSpPr txBox="1"/>
          <p:nvPr/>
        </p:nvSpPr>
        <p:spPr>
          <a:xfrm>
            <a:off x="4937760" y="36804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7" name="Text 24"/>
          <p:cNvSpPr txBox="1"/>
          <p:nvPr/>
        </p:nvSpPr>
        <p:spPr>
          <a:xfrm>
            <a:off x="5669280" y="3474720"/>
            <a:ext cx="2880360" cy="960120"/>
          </a:xfrm>
          <a:prstGeom prst="rect">
            <a:avLst/>
          </a:prstGeom>
          <a:noFill/>
          <a:ln/>
        </p:spPr>
        <p:txBody>
          <a:bodyPr wrap="square" lIns="0" tIns="0" rIns="0" bIns="0" rtlCol="0" anchor="ctr"/>
          <a:lstStyle/>
          <a:p>
            <a:pPr algn="l" indent="0" marL="0">
              <a:buNone/>
            </a:pPr>
            <a:r>
              <a:rPr lang="en-US" sz="1400" dirty="0">
                <a:solidFill>
                  <a:schemeClr val="tx1"/>
                </a:solidFill>
              </a:rPr>
              <a:t>Excel and PDF report export</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Proposed Solution</a:t>
            </a:r>
            <a:endParaRPr lang="en-US" sz="3600" dirty="0"/>
          </a:p>
        </p:txBody>
      </p:sp>
      <p:sp>
        <p:nvSpPr>
          <p:cNvPr id="4" name="Customers"/>
          <p:cNvSpPr/>
          <p:nvPr/>
        </p:nvSpPr>
        <p:spPr>
          <a:xfrm>
            <a:off x="457200" y="1188720"/>
            <a:ext cx="2560320" cy="1645920"/>
          </a:xfrm>
          <a:prstGeom prst="roundRect">
            <a:avLst>
              <a:gd name="adj" fmla="val 6667"/>
            </a:avLst>
          </a:prstGeom>
          <a:solidFill>
            <a:schemeClr val="bg2"/>
          </a:solidFill>
          <a:ln/>
        </p:spPr>
      </p:sp>
      <p:sp>
        <p:nvSpPr>
          <p:cNvPr id="5" name="Customers circle"/>
          <p:cNvSpPr/>
          <p:nvPr/>
        </p:nvSpPr>
        <p:spPr>
          <a:xfrm>
            <a:off x="685800" y="1371600"/>
            <a:ext cx="594360" cy="594360"/>
          </a:xfrm>
          <a:prstGeom prst="ellipse">
            <a:avLst/>
          </a:prstGeom>
          <a:solidFill>
            <a:schemeClr val="accent1"/>
          </a:solidFill>
          <a:ln/>
        </p:spPr>
      </p:sp>
      <p:pic>
        <p:nvPicPr>
          <p:cNvPr id="6" name="Image 0" descr="Customers icon">    </p:cNvPr>
          <p:cNvPicPr>
            <a:picLocks noChangeAspect="1"/>
          </p:cNvPicPr>
          <p:nvPr/>
        </p:nvPicPr>
        <p:blipFill>
          <a:blip r:embed="rId1"/>
          <a:stretch>
            <a:fillRect/>
          </a:stretch>
        </p:blipFill>
        <p:spPr>
          <a:xfrm>
            <a:off x="834390" y="1520190"/>
            <a:ext cx="297180" cy="297180"/>
          </a:xfrm>
          <a:prstGeom prst="rect">
            <a:avLst/>
          </a:prstGeom>
        </p:spPr>
      </p:pic>
      <p:sp>
        <p:nvSpPr>
          <p:cNvPr id="7" name="Text 3"/>
          <p:cNvSpPr txBox="1"/>
          <p:nvPr/>
        </p:nvSpPr>
        <p:spPr>
          <a:xfrm>
            <a:off x="685800" y="2084832"/>
            <a:ext cx="2194560" cy="320040"/>
          </a:xfrm>
          <a:prstGeom prst="rect">
            <a:avLst/>
          </a:prstGeom>
          <a:noFill/>
          <a:ln/>
        </p:spPr>
        <p:txBody>
          <a:bodyPr wrap="square" lIns="0" tIns="0" rIns="0" bIns="0" rtlCol="0" anchor="t"/>
          <a:lstStyle/>
          <a:p>
            <a:pPr algn="l" indent="0" marL="0">
              <a:buNone/>
            </a:pPr>
            <a:r>
              <a:rPr lang="en-US" sz="1800" b="1" dirty="0">
                <a:solidFill>
                  <a:schemeClr val="tx2"/>
                </a:solidFill>
              </a:rPr>
              <a:t>Customers</a:t>
            </a:r>
            <a:endParaRPr lang="en-US" sz="1800" dirty="0"/>
          </a:p>
        </p:txBody>
      </p:sp>
      <p:sp>
        <p:nvSpPr>
          <p:cNvPr id="8" name="Text 4"/>
          <p:cNvSpPr txBox="1"/>
          <p:nvPr/>
        </p:nvSpPr>
        <p:spPr>
          <a:xfrm>
            <a:off x="685800" y="2423160"/>
            <a:ext cx="2194560" cy="320040"/>
          </a:xfrm>
          <a:prstGeom prst="rect">
            <a:avLst/>
          </a:prstGeom>
          <a:noFill/>
          <a:ln/>
        </p:spPr>
        <p:txBody>
          <a:bodyPr wrap="square" lIns="0" tIns="0" rIns="0" bIns="0" rtlCol="0" anchor="t"/>
          <a:lstStyle/>
          <a:p>
            <a:pPr algn="l" indent="0" marL="0">
              <a:buNone/>
            </a:pPr>
            <a:r>
              <a:rPr lang="en-US" sz="1400" dirty="0">
                <a:solidFill>
                  <a:schemeClr val="tx1"/>
                </a:solidFill>
              </a:rPr>
              <a:t>Add, edit, search, delete</a:t>
            </a:r>
            <a:endParaRPr lang="en-US" sz="1400" dirty="0"/>
          </a:p>
        </p:txBody>
      </p:sp>
      <p:sp>
        <p:nvSpPr>
          <p:cNvPr id="9" name="Leads"/>
          <p:cNvSpPr/>
          <p:nvPr/>
        </p:nvSpPr>
        <p:spPr>
          <a:xfrm>
            <a:off x="3291840" y="1188720"/>
            <a:ext cx="2560320" cy="1645920"/>
          </a:xfrm>
          <a:prstGeom prst="roundRect">
            <a:avLst>
              <a:gd name="adj" fmla="val 6667"/>
            </a:avLst>
          </a:prstGeom>
          <a:solidFill>
            <a:schemeClr val="bg2"/>
          </a:solidFill>
          <a:ln/>
        </p:spPr>
      </p:sp>
      <p:sp>
        <p:nvSpPr>
          <p:cNvPr id="10" name="Leads circle"/>
          <p:cNvSpPr/>
          <p:nvPr/>
        </p:nvSpPr>
        <p:spPr>
          <a:xfrm>
            <a:off x="3520440" y="1371600"/>
            <a:ext cx="594360" cy="594360"/>
          </a:xfrm>
          <a:prstGeom prst="ellipse">
            <a:avLst/>
          </a:prstGeom>
          <a:solidFill>
            <a:schemeClr val="accent4"/>
          </a:solidFill>
          <a:ln/>
        </p:spPr>
      </p:sp>
      <p:pic>
        <p:nvPicPr>
          <p:cNvPr id="11" name="Image 1" descr="Leads icon">    </p:cNvPr>
          <p:cNvPicPr>
            <a:picLocks noChangeAspect="1"/>
          </p:cNvPicPr>
          <p:nvPr/>
        </p:nvPicPr>
        <p:blipFill>
          <a:blip r:embed="rId2"/>
          <a:stretch>
            <a:fillRect/>
          </a:stretch>
        </p:blipFill>
        <p:spPr>
          <a:xfrm>
            <a:off x="3669030" y="1520190"/>
            <a:ext cx="297180" cy="297180"/>
          </a:xfrm>
          <a:prstGeom prst="rect">
            <a:avLst/>
          </a:prstGeom>
        </p:spPr>
      </p:pic>
      <p:sp>
        <p:nvSpPr>
          <p:cNvPr id="12" name="Text 7"/>
          <p:cNvSpPr txBox="1"/>
          <p:nvPr/>
        </p:nvSpPr>
        <p:spPr>
          <a:xfrm>
            <a:off x="3520440" y="2084832"/>
            <a:ext cx="2194560" cy="320040"/>
          </a:xfrm>
          <a:prstGeom prst="rect">
            <a:avLst/>
          </a:prstGeom>
          <a:noFill/>
          <a:ln/>
        </p:spPr>
        <p:txBody>
          <a:bodyPr wrap="square" lIns="0" tIns="0" rIns="0" bIns="0" rtlCol="0" anchor="t"/>
          <a:lstStyle/>
          <a:p>
            <a:pPr algn="l" indent="0" marL="0">
              <a:buNone/>
            </a:pPr>
            <a:r>
              <a:rPr lang="en-US" sz="1800" b="1" dirty="0">
                <a:solidFill>
                  <a:schemeClr val="tx2"/>
                </a:solidFill>
              </a:rPr>
              <a:t>Leads</a:t>
            </a:r>
            <a:endParaRPr lang="en-US" sz="1800" dirty="0"/>
          </a:p>
        </p:txBody>
      </p:sp>
      <p:sp>
        <p:nvSpPr>
          <p:cNvPr id="13" name="Text 8"/>
          <p:cNvSpPr txBox="1"/>
          <p:nvPr/>
        </p:nvSpPr>
        <p:spPr>
          <a:xfrm>
            <a:off x="3520440" y="2423160"/>
            <a:ext cx="2194560" cy="320040"/>
          </a:xfrm>
          <a:prstGeom prst="rect">
            <a:avLst/>
          </a:prstGeom>
          <a:noFill/>
          <a:ln/>
        </p:spPr>
        <p:txBody>
          <a:bodyPr wrap="square" lIns="0" tIns="0" rIns="0" bIns="0" rtlCol="0" anchor="t"/>
          <a:lstStyle/>
          <a:p>
            <a:pPr algn="l" indent="0" marL="0">
              <a:buNone/>
            </a:pPr>
            <a:r>
              <a:rPr lang="en-US" sz="1400" dirty="0">
                <a:solidFill>
                  <a:schemeClr val="tx1"/>
                </a:solidFill>
              </a:rPr>
              <a:t>Value, stage, customer</a:t>
            </a:r>
            <a:endParaRPr lang="en-US" sz="1400" dirty="0"/>
          </a:p>
        </p:txBody>
      </p:sp>
      <p:sp>
        <p:nvSpPr>
          <p:cNvPr id="14" name="Pipeline"/>
          <p:cNvSpPr/>
          <p:nvPr/>
        </p:nvSpPr>
        <p:spPr>
          <a:xfrm>
            <a:off x="6126480" y="1188720"/>
            <a:ext cx="2560320" cy="1645920"/>
          </a:xfrm>
          <a:prstGeom prst="roundRect">
            <a:avLst>
              <a:gd name="adj" fmla="val 6667"/>
            </a:avLst>
          </a:prstGeom>
          <a:solidFill>
            <a:schemeClr val="bg2"/>
          </a:solidFill>
          <a:ln/>
        </p:spPr>
      </p:sp>
      <p:sp>
        <p:nvSpPr>
          <p:cNvPr id="15" name="Pipeline circle"/>
          <p:cNvSpPr/>
          <p:nvPr/>
        </p:nvSpPr>
        <p:spPr>
          <a:xfrm>
            <a:off x="6355080" y="1371600"/>
            <a:ext cx="594360" cy="594360"/>
          </a:xfrm>
          <a:prstGeom prst="ellipse">
            <a:avLst/>
          </a:prstGeom>
          <a:solidFill>
            <a:schemeClr val="accent3"/>
          </a:solidFill>
          <a:ln/>
        </p:spPr>
      </p:sp>
      <p:pic>
        <p:nvPicPr>
          <p:cNvPr id="16" name="Image 2" descr="Pipeline icon">    </p:cNvPr>
          <p:cNvPicPr>
            <a:picLocks noChangeAspect="1"/>
          </p:cNvPicPr>
          <p:nvPr/>
        </p:nvPicPr>
        <p:blipFill>
          <a:blip r:embed="rId3"/>
          <a:stretch>
            <a:fillRect/>
          </a:stretch>
        </p:blipFill>
        <p:spPr>
          <a:xfrm>
            <a:off x="6503670" y="1520190"/>
            <a:ext cx="297180" cy="297180"/>
          </a:xfrm>
          <a:prstGeom prst="rect">
            <a:avLst/>
          </a:prstGeom>
        </p:spPr>
      </p:pic>
      <p:sp>
        <p:nvSpPr>
          <p:cNvPr id="17" name="Text 11"/>
          <p:cNvSpPr txBox="1"/>
          <p:nvPr/>
        </p:nvSpPr>
        <p:spPr>
          <a:xfrm>
            <a:off x="6355080" y="2084832"/>
            <a:ext cx="2194560" cy="320040"/>
          </a:xfrm>
          <a:prstGeom prst="rect">
            <a:avLst/>
          </a:prstGeom>
          <a:noFill/>
          <a:ln/>
        </p:spPr>
        <p:txBody>
          <a:bodyPr wrap="square" lIns="0" tIns="0" rIns="0" bIns="0" rtlCol="0" anchor="t"/>
          <a:lstStyle/>
          <a:p>
            <a:pPr algn="l" indent="0" marL="0">
              <a:buNone/>
            </a:pPr>
            <a:r>
              <a:rPr lang="en-US" sz="1800" b="1" dirty="0">
                <a:solidFill>
                  <a:schemeClr val="tx2"/>
                </a:solidFill>
              </a:rPr>
              <a:t>Pipeline</a:t>
            </a:r>
            <a:endParaRPr lang="en-US" sz="1800" dirty="0"/>
          </a:p>
        </p:txBody>
      </p:sp>
      <p:sp>
        <p:nvSpPr>
          <p:cNvPr id="18" name="Text 12"/>
          <p:cNvSpPr txBox="1"/>
          <p:nvPr/>
        </p:nvSpPr>
        <p:spPr>
          <a:xfrm>
            <a:off x="6355080" y="2423160"/>
            <a:ext cx="2194560" cy="320040"/>
          </a:xfrm>
          <a:prstGeom prst="rect">
            <a:avLst/>
          </a:prstGeom>
          <a:noFill/>
          <a:ln/>
        </p:spPr>
        <p:txBody>
          <a:bodyPr wrap="square" lIns="0" tIns="0" rIns="0" bIns="0" rtlCol="0" anchor="t"/>
          <a:lstStyle/>
          <a:p>
            <a:pPr algn="l" indent="0" marL="0">
              <a:buNone/>
            </a:pPr>
            <a:r>
              <a:rPr lang="en-US" sz="1400" dirty="0">
                <a:solidFill>
                  <a:schemeClr val="tx1"/>
                </a:solidFill>
              </a:rPr>
              <a:t>Six stages, one-click move</a:t>
            </a:r>
            <a:endParaRPr lang="en-US" sz="1400" dirty="0"/>
          </a:p>
        </p:txBody>
      </p:sp>
      <p:sp>
        <p:nvSpPr>
          <p:cNvPr id="19" name="Dashboard"/>
          <p:cNvSpPr/>
          <p:nvPr/>
        </p:nvSpPr>
        <p:spPr>
          <a:xfrm>
            <a:off x="457200" y="3017520"/>
            <a:ext cx="2560320" cy="1645920"/>
          </a:xfrm>
          <a:prstGeom prst="roundRect">
            <a:avLst>
              <a:gd name="adj" fmla="val 6667"/>
            </a:avLst>
          </a:prstGeom>
          <a:solidFill>
            <a:schemeClr val="bg2"/>
          </a:solidFill>
          <a:ln/>
        </p:spPr>
      </p:sp>
      <p:sp>
        <p:nvSpPr>
          <p:cNvPr id="20" name="Dashboard circle"/>
          <p:cNvSpPr/>
          <p:nvPr/>
        </p:nvSpPr>
        <p:spPr>
          <a:xfrm>
            <a:off x="685800" y="3200400"/>
            <a:ext cx="594360" cy="594360"/>
          </a:xfrm>
          <a:prstGeom prst="ellipse">
            <a:avLst/>
          </a:prstGeom>
          <a:solidFill>
            <a:schemeClr val="accent2"/>
          </a:solidFill>
          <a:ln/>
        </p:spPr>
      </p:sp>
      <p:pic>
        <p:nvPicPr>
          <p:cNvPr id="21" name="Image 3" descr="Dashboard icon">    </p:cNvPr>
          <p:cNvPicPr>
            <a:picLocks noChangeAspect="1"/>
          </p:cNvPicPr>
          <p:nvPr/>
        </p:nvPicPr>
        <p:blipFill>
          <a:blip r:embed="rId4"/>
          <a:stretch>
            <a:fillRect/>
          </a:stretch>
        </p:blipFill>
        <p:spPr>
          <a:xfrm>
            <a:off x="834390" y="3348990"/>
            <a:ext cx="297180" cy="297180"/>
          </a:xfrm>
          <a:prstGeom prst="rect">
            <a:avLst/>
          </a:prstGeom>
        </p:spPr>
      </p:pic>
      <p:sp>
        <p:nvSpPr>
          <p:cNvPr id="22" name="Text 15"/>
          <p:cNvSpPr txBox="1"/>
          <p:nvPr/>
        </p:nvSpPr>
        <p:spPr>
          <a:xfrm>
            <a:off x="685800" y="3913632"/>
            <a:ext cx="2194560" cy="320040"/>
          </a:xfrm>
          <a:prstGeom prst="rect">
            <a:avLst/>
          </a:prstGeom>
          <a:noFill/>
          <a:ln/>
        </p:spPr>
        <p:txBody>
          <a:bodyPr wrap="square" lIns="0" tIns="0" rIns="0" bIns="0" rtlCol="0" anchor="t"/>
          <a:lstStyle/>
          <a:p>
            <a:pPr algn="l" indent="0" marL="0">
              <a:buNone/>
            </a:pPr>
            <a:r>
              <a:rPr lang="en-US" sz="1800" b="1" dirty="0">
                <a:solidFill>
                  <a:schemeClr val="tx2"/>
                </a:solidFill>
              </a:rPr>
              <a:t>Dashboard</a:t>
            </a:r>
            <a:endParaRPr lang="en-US" sz="1800" dirty="0"/>
          </a:p>
        </p:txBody>
      </p:sp>
      <p:sp>
        <p:nvSpPr>
          <p:cNvPr id="23" name="Text 16"/>
          <p:cNvSpPr txBox="1"/>
          <p:nvPr/>
        </p:nvSpPr>
        <p:spPr>
          <a:xfrm>
            <a:off x="685800" y="4251960"/>
            <a:ext cx="2194560" cy="320040"/>
          </a:xfrm>
          <a:prstGeom prst="rect">
            <a:avLst/>
          </a:prstGeom>
          <a:noFill/>
          <a:ln/>
        </p:spPr>
        <p:txBody>
          <a:bodyPr wrap="square" lIns="0" tIns="0" rIns="0" bIns="0" rtlCol="0" anchor="t"/>
          <a:lstStyle/>
          <a:p>
            <a:pPr algn="l" indent="0" marL="0">
              <a:buNone/>
            </a:pPr>
            <a:r>
              <a:rPr lang="en-US" sz="1400" dirty="0">
                <a:solidFill>
                  <a:schemeClr val="tx1"/>
                </a:solidFill>
              </a:rPr>
              <a:t>Live counts and revenue</a:t>
            </a:r>
            <a:endParaRPr lang="en-US" sz="1400" dirty="0"/>
          </a:p>
        </p:txBody>
      </p:sp>
      <p:sp>
        <p:nvSpPr>
          <p:cNvPr id="24" name="AI Assistant"/>
          <p:cNvSpPr/>
          <p:nvPr/>
        </p:nvSpPr>
        <p:spPr>
          <a:xfrm>
            <a:off x="3291840" y="3017520"/>
            <a:ext cx="2560320" cy="1645920"/>
          </a:xfrm>
          <a:prstGeom prst="roundRect">
            <a:avLst>
              <a:gd name="adj" fmla="val 6667"/>
            </a:avLst>
          </a:prstGeom>
          <a:solidFill>
            <a:schemeClr val="bg2"/>
          </a:solidFill>
          <a:ln/>
        </p:spPr>
      </p:sp>
      <p:sp>
        <p:nvSpPr>
          <p:cNvPr id="25" name="AI Assistant circle"/>
          <p:cNvSpPr/>
          <p:nvPr/>
        </p:nvSpPr>
        <p:spPr>
          <a:xfrm>
            <a:off x="3520440" y="3200400"/>
            <a:ext cx="594360" cy="594360"/>
          </a:xfrm>
          <a:prstGeom prst="ellipse">
            <a:avLst/>
          </a:prstGeom>
          <a:solidFill>
            <a:schemeClr val="accent5"/>
          </a:solidFill>
          <a:ln/>
        </p:spPr>
      </p:sp>
      <p:pic>
        <p:nvPicPr>
          <p:cNvPr id="26" name="Image 4" descr="AI Assistant icon">    </p:cNvPr>
          <p:cNvPicPr>
            <a:picLocks noChangeAspect="1"/>
          </p:cNvPicPr>
          <p:nvPr/>
        </p:nvPicPr>
        <p:blipFill>
          <a:blip r:embed="rId5"/>
          <a:stretch>
            <a:fillRect/>
          </a:stretch>
        </p:blipFill>
        <p:spPr>
          <a:xfrm>
            <a:off x="3669030" y="3348990"/>
            <a:ext cx="297180" cy="297180"/>
          </a:xfrm>
          <a:prstGeom prst="rect">
            <a:avLst/>
          </a:prstGeom>
        </p:spPr>
      </p:pic>
      <p:sp>
        <p:nvSpPr>
          <p:cNvPr id="27" name="Text 19"/>
          <p:cNvSpPr txBox="1"/>
          <p:nvPr/>
        </p:nvSpPr>
        <p:spPr>
          <a:xfrm>
            <a:off x="3520440" y="3913632"/>
            <a:ext cx="2194560" cy="320040"/>
          </a:xfrm>
          <a:prstGeom prst="rect">
            <a:avLst/>
          </a:prstGeom>
          <a:noFill/>
          <a:ln/>
        </p:spPr>
        <p:txBody>
          <a:bodyPr wrap="square" lIns="0" tIns="0" rIns="0" bIns="0" rtlCol="0" anchor="t"/>
          <a:lstStyle/>
          <a:p>
            <a:pPr algn="l" indent="0" marL="0">
              <a:buNone/>
            </a:pPr>
            <a:r>
              <a:rPr lang="en-US" sz="1800" b="1" dirty="0">
                <a:solidFill>
                  <a:schemeClr val="tx2"/>
                </a:solidFill>
              </a:rPr>
              <a:t>AI Assistant</a:t>
            </a:r>
            <a:endParaRPr lang="en-US" sz="1800" dirty="0"/>
          </a:p>
        </p:txBody>
      </p:sp>
      <p:sp>
        <p:nvSpPr>
          <p:cNvPr id="28" name="Text 20"/>
          <p:cNvSpPr txBox="1"/>
          <p:nvPr/>
        </p:nvSpPr>
        <p:spPr>
          <a:xfrm>
            <a:off x="3520440" y="4251960"/>
            <a:ext cx="2194560" cy="320040"/>
          </a:xfrm>
          <a:prstGeom prst="rect">
            <a:avLst/>
          </a:prstGeom>
          <a:noFill/>
          <a:ln/>
        </p:spPr>
        <p:txBody>
          <a:bodyPr wrap="square" lIns="0" tIns="0" rIns="0" bIns="0" rtlCol="0" anchor="t"/>
          <a:lstStyle/>
          <a:p>
            <a:pPr algn="l" indent="0" marL="0">
              <a:buNone/>
            </a:pPr>
            <a:r>
              <a:rPr lang="en-US" sz="1400" dirty="0">
                <a:solidFill>
                  <a:schemeClr val="tx1"/>
                </a:solidFill>
              </a:rPr>
              <a:t>Natural-language answers</a:t>
            </a:r>
            <a:endParaRPr lang="en-US" sz="1400" dirty="0"/>
          </a:p>
        </p:txBody>
      </p:sp>
      <p:sp>
        <p:nvSpPr>
          <p:cNvPr id="29" name="Reports"/>
          <p:cNvSpPr/>
          <p:nvPr/>
        </p:nvSpPr>
        <p:spPr>
          <a:xfrm>
            <a:off x="6126480" y="3017520"/>
            <a:ext cx="2560320" cy="1645920"/>
          </a:xfrm>
          <a:prstGeom prst="roundRect">
            <a:avLst>
              <a:gd name="adj" fmla="val 6667"/>
            </a:avLst>
          </a:prstGeom>
          <a:solidFill>
            <a:schemeClr val="bg2"/>
          </a:solidFill>
          <a:ln/>
        </p:spPr>
      </p:sp>
      <p:sp>
        <p:nvSpPr>
          <p:cNvPr id="30" name="Reports circle"/>
          <p:cNvSpPr/>
          <p:nvPr/>
        </p:nvSpPr>
        <p:spPr>
          <a:xfrm>
            <a:off x="6355080" y="3200400"/>
            <a:ext cx="594360" cy="594360"/>
          </a:xfrm>
          <a:prstGeom prst="ellipse">
            <a:avLst/>
          </a:prstGeom>
          <a:solidFill>
            <a:schemeClr val="accent6"/>
          </a:solidFill>
          <a:ln/>
        </p:spPr>
      </p:sp>
      <p:pic>
        <p:nvPicPr>
          <p:cNvPr id="31" name="Image 5" descr="Reports icon">    </p:cNvPr>
          <p:cNvPicPr>
            <a:picLocks noChangeAspect="1"/>
          </p:cNvPicPr>
          <p:nvPr/>
        </p:nvPicPr>
        <p:blipFill>
          <a:blip r:embed="rId6"/>
          <a:stretch>
            <a:fillRect/>
          </a:stretch>
        </p:blipFill>
        <p:spPr>
          <a:xfrm>
            <a:off x="6503670" y="3348990"/>
            <a:ext cx="297180" cy="297180"/>
          </a:xfrm>
          <a:prstGeom prst="rect">
            <a:avLst/>
          </a:prstGeom>
        </p:spPr>
      </p:pic>
      <p:sp>
        <p:nvSpPr>
          <p:cNvPr id="32" name="Text 23"/>
          <p:cNvSpPr txBox="1"/>
          <p:nvPr/>
        </p:nvSpPr>
        <p:spPr>
          <a:xfrm>
            <a:off x="6355080" y="3913632"/>
            <a:ext cx="2194560" cy="320040"/>
          </a:xfrm>
          <a:prstGeom prst="rect">
            <a:avLst/>
          </a:prstGeom>
          <a:noFill/>
          <a:ln/>
        </p:spPr>
        <p:txBody>
          <a:bodyPr wrap="square" lIns="0" tIns="0" rIns="0" bIns="0" rtlCol="0" anchor="t"/>
          <a:lstStyle/>
          <a:p>
            <a:pPr algn="l" indent="0" marL="0">
              <a:buNone/>
            </a:pPr>
            <a:r>
              <a:rPr lang="en-US" sz="1800" b="1" dirty="0">
                <a:solidFill>
                  <a:schemeClr val="tx2"/>
                </a:solidFill>
              </a:rPr>
              <a:t>Reports</a:t>
            </a:r>
            <a:endParaRPr lang="en-US" sz="1800" dirty="0"/>
          </a:p>
        </p:txBody>
      </p:sp>
      <p:sp>
        <p:nvSpPr>
          <p:cNvPr id="33" name="Text 24"/>
          <p:cNvSpPr txBox="1"/>
          <p:nvPr/>
        </p:nvSpPr>
        <p:spPr>
          <a:xfrm>
            <a:off x="6355080" y="4251960"/>
            <a:ext cx="2194560" cy="320040"/>
          </a:xfrm>
          <a:prstGeom prst="rect">
            <a:avLst/>
          </a:prstGeom>
          <a:noFill/>
          <a:ln/>
        </p:spPr>
        <p:txBody>
          <a:bodyPr wrap="square" lIns="0" tIns="0" rIns="0" bIns="0" rtlCol="0" anchor="t"/>
          <a:lstStyle/>
          <a:p>
            <a:pPr algn="l" indent="0" marL="0">
              <a:buNone/>
            </a:pPr>
            <a:r>
              <a:rPr lang="en-US" sz="1400" dirty="0">
                <a:solidFill>
                  <a:schemeClr val="tx1"/>
                </a:solidFill>
              </a:rPr>
              <a:t>Excel and PDF export</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System Architecture</a:t>
            </a:r>
            <a:endParaRPr lang="en-US" sz="3600" dirty="0"/>
          </a:p>
        </p:txBody>
      </p:sp>
      <p:pic>
        <p:nvPicPr>
          <p:cNvPr id="4" name="Image 0" descr="Block diagram of the CRM system">    </p:cNvPr>
          <p:cNvPicPr>
            <a:picLocks noChangeAspect="1"/>
          </p:cNvPicPr>
          <p:nvPr/>
        </p:nvPicPr>
        <p:blipFill>
          <a:blip r:embed="rId1"/>
          <a:stretch>
            <a:fillRect/>
          </a:stretch>
        </p:blipFill>
        <p:spPr>
          <a:xfrm>
            <a:off x="457200" y="1143000"/>
            <a:ext cx="2821073" cy="3520440"/>
          </a:xfrm>
          <a:prstGeom prst="rect">
            <a:avLst/>
          </a:prstGeom>
        </p:spPr>
      </p:pic>
      <p:sp>
        <p:nvSpPr>
          <p:cNvPr id="5" name="Presentation"/>
          <p:cNvSpPr/>
          <p:nvPr/>
        </p:nvSpPr>
        <p:spPr>
          <a:xfrm>
            <a:off x="4023360" y="1188720"/>
            <a:ext cx="4663440" cy="731520"/>
          </a:xfrm>
          <a:prstGeom prst="roundRect">
            <a:avLst>
              <a:gd name="adj" fmla="val 15000"/>
            </a:avLst>
          </a:prstGeom>
          <a:solidFill>
            <a:schemeClr val="bg2"/>
          </a:solidFill>
          <a:ln/>
        </p:spPr>
      </p:sp>
      <p:sp>
        <p:nvSpPr>
          <p:cNvPr id="6" name="Text 2"/>
          <p:cNvSpPr txBox="1"/>
          <p:nvPr/>
        </p:nvSpPr>
        <p:spPr>
          <a:xfrm>
            <a:off x="4206240" y="1188720"/>
            <a:ext cx="4389120" cy="731520"/>
          </a:xfrm>
          <a:prstGeom prst="rect">
            <a:avLst/>
          </a:prstGeom>
          <a:noFill/>
          <a:ln/>
        </p:spPr>
        <p:txBody>
          <a:bodyPr wrap="square" lIns="0" tIns="0" rIns="0" bIns="0" rtlCol="0" anchor="ctr"/>
          <a:lstStyle/>
          <a:p>
            <a:pPr algn="l" indent="0" marL="0">
              <a:buNone/>
            </a:pPr>
            <a:r>
              <a:rPr lang="en-US" sz="1400" b="1" dirty="0">
                <a:solidFill>
                  <a:schemeClr val="accent1"/>
                </a:solidFill>
              </a:rPr>
              <a:t>Presentation</a:t>
            </a:r>
            <a:endParaRPr lang="en-US" sz="1400" dirty="0"/>
          </a:p>
          <a:p>
            <a:pPr algn="l" indent="0" marL="0">
              <a:buNone/>
            </a:pPr>
            <a:r>
              <a:rPr lang="en-US" sz="1400" dirty="0">
                <a:solidFill>
                  <a:schemeClr val="tx1"/>
                </a:solidFill>
              </a:rPr>
              <a:t>React 18 + Vite, Recharts</a:t>
            </a:r>
            <a:endParaRPr lang="en-US" sz="1400" dirty="0"/>
          </a:p>
        </p:txBody>
      </p:sp>
      <p:sp>
        <p:nvSpPr>
          <p:cNvPr id="7" name="Application"/>
          <p:cNvSpPr/>
          <p:nvPr/>
        </p:nvSpPr>
        <p:spPr>
          <a:xfrm>
            <a:off x="4023360" y="2057400"/>
            <a:ext cx="4663440" cy="731520"/>
          </a:xfrm>
          <a:prstGeom prst="roundRect">
            <a:avLst>
              <a:gd name="adj" fmla="val 15000"/>
            </a:avLst>
          </a:prstGeom>
          <a:solidFill>
            <a:schemeClr val="bg2"/>
          </a:solidFill>
          <a:ln/>
        </p:spPr>
      </p:sp>
      <p:sp>
        <p:nvSpPr>
          <p:cNvPr id="8" name="Text 4"/>
          <p:cNvSpPr txBox="1"/>
          <p:nvPr/>
        </p:nvSpPr>
        <p:spPr>
          <a:xfrm>
            <a:off x="4206240" y="2057400"/>
            <a:ext cx="4389120" cy="731520"/>
          </a:xfrm>
          <a:prstGeom prst="rect">
            <a:avLst/>
          </a:prstGeom>
          <a:noFill/>
          <a:ln/>
        </p:spPr>
        <p:txBody>
          <a:bodyPr wrap="square" lIns="0" tIns="0" rIns="0" bIns="0" rtlCol="0" anchor="ctr"/>
          <a:lstStyle/>
          <a:p>
            <a:pPr algn="l" indent="0" marL="0">
              <a:buNone/>
            </a:pPr>
            <a:r>
              <a:rPr lang="en-US" sz="1400" b="1" dirty="0">
                <a:solidFill>
                  <a:schemeClr val="accent1"/>
                </a:solidFill>
              </a:rPr>
              <a:t>Application</a:t>
            </a:r>
            <a:endParaRPr lang="en-US" sz="1400" dirty="0"/>
          </a:p>
          <a:p>
            <a:pPr algn="l" indent="0" marL="0">
              <a:buNone/>
            </a:pPr>
            <a:r>
              <a:rPr lang="en-US" sz="1400" dirty="0">
                <a:solidFill>
                  <a:schemeClr val="tx1"/>
                </a:solidFill>
              </a:rPr>
              <a:t>Spring Boot REST + Spring Security (JWT)</a:t>
            </a:r>
            <a:endParaRPr lang="en-US" sz="1400" dirty="0"/>
          </a:p>
        </p:txBody>
      </p:sp>
      <p:sp>
        <p:nvSpPr>
          <p:cNvPr id="9" name="Data"/>
          <p:cNvSpPr/>
          <p:nvPr/>
        </p:nvSpPr>
        <p:spPr>
          <a:xfrm>
            <a:off x="4023360" y="2926080"/>
            <a:ext cx="4663440" cy="731520"/>
          </a:xfrm>
          <a:prstGeom prst="roundRect">
            <a:avLst>
              <a:gd name="adj" fmla="val 15000"/>
            </a:avLst>
          </a:prstGeom>
          <a:solidFill>
            <a:schemeClr val="bg2"/>
          </a:solidFill>
          <a:ln/>
        </p:spPr>
      </p:sp>
      <p:sp>
        <p:nvSpPr>
          <p:cNvPr id="10" name="Text 6"/>
          <p:cNvSpPr txBox="1"/>
          <p:nvPr/>
        </p:nvSpPr>
        <p:spPr>
          <a:xfrm>
            <a:off x="4206240" y="2926080"/>
            <a:ext cx="4389120" cy="731520"/>
          </a:xfrm>
          <a:prstGeom prst="rect">
            <a:avLst/>
          </a:prstGeom>
          <a:noFill/>
          <a:ln/>
        </p:spPr>
        <p:txBody>
          <a:bodyPr wrap="square" lIns="0" tIns="0" rIns="0" bIns="0" rtlCol="0" anchor="ctr"/>
          <a:lstStyle/>
          <a:p>
            <a:pPr algn="l" indent="0" marL="0">
              <a:buNone/>
            </a:pPr>
            <a:r>
              <a:rPr lang="en-US" sz="1400" b="1" dirty="0">
                <a:solidFill>
                  <a:schemeClr val="accent1"/>
                </a:solidFill>
              </a:rPr>
              <a:t>Data</a:t>
            </a:r>
            <a:endParaRPr lang="en-US" sz="1400" dirty="0"/>
          </a:p>
          <a:p>
            <a:pPr algn="l" indent="0" marL="0">
              <a:buNone/>
            </a:pPr>
            <a:r>
              <a:rPr lang="en-US" sz="1400" dirty="0">
                <a:solidFill>
                  <a:schemeClr val="tx1"/>
                </a:solidFill>
              </a:rPr>
              <a:t>MySQL 8 via Spring Data JPA</a:t>
            </a:r>
            <a:endParaRPr lang="en-US" sz="1400" dirty="0"/>
          </a:p>
        </p:txBody>
      </p:sp>
      <p:sp>
        <p:nvSpPr>
          <p:cNvPr id="11" name="AI and reports"/>
          <p:cNvSpPr/>
          <p:nvPr/>
        </p:nvSpPr>
        <p:spPr>
          <a:xfrm>
            <a:off x="4023360" y="3794760"/>
            <a:ext cx="4663440" cy="731520"/>
          </a:xfrm>
          <a:prstGeom prst="roundRect">
            <a:avLst>
              <a:gd name="adj" fmla="val 15000"/>
            </a:avLst>
          </a:prstGeom>
          <a:solidFill>
            <a:schemeClr val="bg2"/>
          </a:solidFill>
          <a:ln/>
        </p:spPr>
      </p:sp>
      <p:sp>
        <p:nvSpPr>
          <p:cNvPr id="12" name="Text 8"/>
          <p:cNvSpPr txBox="1"/>
          <p:nvPr/>
        </p:nvSpPr>
        <p:spPr>
          <a:xfrm>
            <a:off x="4206240" y="3794760"/>
            <a:ext cx="4389120" cy="731520"/>
          </a:xfrm>
          <a:prstGeom prst="rect">
            <a:avLst/>
          </a:prstGeom>
          <a:noFill/>
          <a:ln/>
        </p:spPr>
        <p:txBody>
          <a:bodyPr wrap="square" lIns="0" tIns="0" rIns="0" bIns="0" rtlCol="0" anchor="ctr"/>
          <a:lstStyle/>
          <a:p>
            <a:pPr algn="l" indent="0" marL="0">
              <a:buNone/>
            </a:pPr>
            <a:r>
              <a:rPr lang="en-US" sz="1400" b="1" dirty="0">
                <a:solidFill>
                  <a:schemeClr val="accent1"/>
                </a:solidFill>
              </a:rPr>
              <a:t>AI and reports</a:t>
            </a:r>
            <a:endParaRPr lang="en-US" sz="1400" dirty="0"/>
          </a:p>
          <a:p>
            <a:pPr algn="l" indent="0" marL="0">
              <a:buNone/>
            </a:pPr>
            <a:r>
              <a:rPr lang="en-US" sz="1400" dirty="0">
                <a:solidFill>
                  <a:schemeClr val="tx1"/>
                </a:solidFill>
              </a:rPr>
              <a:t>Gemini or Ollama, Apache POI, OpenPDF</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Technology Stack</a:t>
            </a:r>
            <a:endParaRPr lang="en-US" sz="3600" dirty="0"/>
          </a:p>
        </p:txBody>
      </p:sp>
      <p:sp>
        <p:nvSpPr>
          <p:cNvPr id="4" name="Backend"/>
          <p:cNvSpPr/>
          <p:nvPr/>
        </p:nvSpPr>
        <p:spPr>
          <a:xfrm>
            <a:off x="457200" y="1188720"/>
            <a:ext cx="1828800" cy="3291840"/>
          </a:xfrm>
          <a:prstGeom prst="roundRect">
            <a:avLst>
              <a:gd name="adj" fmla="val 6000"/>
            </a:avLst>
          </a:prstGeom>
          <a:solidFill>
            <a:schemeClr val="bg2"/>
          </a:solidFill>
          <a:ln/>
        </p:spPr>
      </p:sp>
      <p:sp>
        <p:nvSpPr>
          <p:cNvPr id="5" name="Backend circle"/>
          <p:cNvSpPr/>
          <p:nvPr/>
        </p:nvSpPr>
        <p:spPr>
          <a:xfrm>
            <a:off x="685800" y="1417320"/>
            <a:ext cx="594360" cy="594360"/>
          </a:xfrm>
          <a:prstGeom prst="ellipse">
            <a:avLst/>
          </a:prstGeom>
          <a:solidFill>
            <a:schemeClr val="accent1"/>
          </a:solidFill>
          <a:ln/>
        </p:spPr>
      </p:sp>
      <p:pic>
        <p:nvPicPr>
          <p:cNvPr id="6" name="Image 0" descr="Backend icon">    </p:cNvPr>
          <p:cNvPicPr>
            <a:picLocks noChangeAspect="1"/>
          </p:cNvPicPr>
          <p:nvPr/>
        </p:nvPicPr>
        <p:blipFill>
          <a:blip r:embed="rId1"/>
          <a:stretch>
            <a:fillRect/>
          </a:stretch>
        </p:blipFill>
        <p:spPr>
          <a:xfrm>
            <a:off x="834390" y="1565910"/>
            <a:ext cx="297180" cy="297180"/>
          </a:xfrm>
          <a:prstGeom prst="rect">
            <a:avLst/>
          </a:prstGeom>
        </p:spPr>
      </p:pic>
      <p:sp>
        <p:nvSpPr>
          <p:cNvPr id="7" name="Text 3"/>
          <p:cNvSpPr txBox="1"/>
          <p:nvPr/>
        </p:nvSpPr>
        <p:spPr>
          <a:xfrm>
            <a:off x="685800" y="2148840"/>
            <a:ext cx="1463040" cy="548640"/>
          </a:xfrm>
          <a:prstGeom prst="rect">
            <a:avLst/>
          </a:prstGeom>
          <a:noFill/>
          <a:ln/>
        </p:spPr>
        <p:txBody>
          <a:bodyPr wrap="square" lIns="0" tIns="0" rIns="0" bIns="0" rtlCol="0" anchor="t"/>
          <a:lstStyle/>
          <a:p>
            <a:pPr algn="l" indent="0" marL="0">
              <a:buNone/>
            </a:pPr>
            <a:r>
              <a:rPr lang="en-US" sz="1800" b="1" dirty="0">
                <a:solidFill>
                  <a:schemeClr val="tx2"/>
                </a:solidFill>
              </a:rPr>
              <a:t>Backend</a:t>
            </a:r>
            <a:endParaRPr lang="en-US" sz="1800" dirty="0"/>
          </a:p>
        </p:txBody>
      </p:sp>
      <p:sp>
        <p:nvSpPr>
          <p:cNvPr id="8" name="Text 4"/>
          <p:cNvSpPr txBox="1"/>
          <p:nvPr/>
        </p:nvSpPr>
        <p:spPr>
          <a:xfrm>
            <a:off x="685800" y="2788920"/>
            <a:ext cx="1463040" cy="155448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Java 17</a:t>
            </a:r>
            <a:endParaRPr lang="en-US" sz="1400" dirty="0"/>
          </a:p>
          <a:p>
            <a:pPr algn="l" marL="342900" indent="-342900">
              <a:spcAft>
                <a:spcPts val="600"/>
              </a:spcAft>
              <a:buSzPct val="100000"/>
              <a:buChar char="•"/>
            </a:pPr>
            <a:r>
              <a:rPr lang="en-US" sz="1400" dirty="0">
                <a:solidFill>
                  <a:schemeClr val="tx1"/>
                </a:solidFill>
              </a:rPr>
              <a:t>Spring Boot 3.2</a:t>
            </a:r>
            <a:endParaRPr lang="en-US" sz="1400" dirty="0"/>
          </a:p>
          <a:p>
            <a:pPr algn="l" marL="342900" indent="-342900">
              <a:spcAft>
                <a:spcPts val="600"/>
              </a:spcAft>
              <a:buSzPct val="100000"/>
              <a:buChar char="•"/>
            </a:pPr>
            <a:r>
              <a:rPr lang="en-US" sz="1400" dirty="0">
                <a:solidFill>
                  <a:schemeClr val="tx1"/>
                </a:solidFill>
              </a:rPr>
              <a:t>Spring Data JPA</a:t>
            </a:r>
            <a:endParaRPr lang="en-US" sz="1400" dirty="0"/>
          </a:p>
          <a:p>
            <a:pPr algn="l" marL="342900" indent="-342900">
              <a:spcAft>
                <a:spcPts val="600"/>
              </a:spcAft>
              <a:buSzPct val="100000"/>
              <a:buChar char="•"/>
            </a:pPr>
            <a:r>
              <a:rPr lang="en-US" sz="1400" dirty="0">
                <a:solidFill>
                  <a:schemeClr val="tx1"/>
                </a:solidFill>
              </a:rPr>
              <a:t>Spring Security</a:t>
            </a:r>
            <a:endParaRPr lang="en-US" sz="1400" dirty="0"/>
          </a:p>
        </p:txBody>
      </p:sp>
      <p:sp>
        <p:nvSpPr>
          <p:cNvPr id="9" name="Frontend"/>
          <p:cNvSpPr/>
          <p:nvPr/>
        </p:nvSpPr>
        <p:spPr>
          <a:xfrm>
            <a:off x="2587752" y="1188720"/>
            <a:ext cx="1828800" cy="3291840"/>
          </a:xfrm>
          <a:prstGeom prst="roundRect">
            <a:avLst>
              <a:gd name="adj" fmla="val 6000"/>
            </a:avLst>
          </a:prstGeom>
          <a:solidFill>
            <a:schemeClr val="bg2"/>
          </a:solidFill>
          <a:ln/>
        </p:spPr>
      </p:sp>
      <p:sp>
        <p:nvSpPr>
          <p:cNvPr id="10" name="Frontend circle"/>
          <p:cNvSpPr/>
          <p:nvPr/>
        </p:nvSpPr>
        <p:spPr>
          <a:xfrm>
            <a:off x="2816352" y="1417320"/>
            <a:ext cx="594360" cy="594360"/>
          </a:xfrm>
          <a:prstGeom prst="ellipse">
            <a:avLst/>
          </a:prstGeom>
          <a:solidFill>
            <a:schemeClr val="accent4"/>
          </a:solidFill>
          <a:ln/>
        </p:spPr>
      </p:sp>
      <p:pic>
        <p:nvPicPr>
          <p:cNvPr id="11" name="Image 1" descr="Frontend icon">    </p:cNvPr>
          <p:cNvPicPr>
            <a:picLocks noChangeAspect="1"/>
          </p:cNvPicPr>
          <p:nvPr/>
        </p:nvPicPr>
        <p:blipFill>
          <a:blip r:embed="rId2"/>
          <a:stretch>
            <a:fillRect/>
          </a:stretch>
        </p:blipFill>
        <p:spPr>
          <a:xfrm>
            <a:off x="2964942" y="1565910"/>
            <a:ext cx="297180" cy="297180"/>
          </a:xfrm>
          <a:prstGeom prst="rect">
            <a:avLst/>
          </a:prstGeom>
        </p:spPr>
      </p:pic>
      <p:sp>
        <p:nvSpPr>
          <p:cNvPr id="12" name="Text 7"/>
          <p:cNvSpPr txBox="1"/>
          <p:nvPr/>
        </p:nvSpPr>
        <p:spPr>
          <a:xfrm>
            <a:off x="2816352" y="2148840"/>
            <a:ext cx="1463040" cy="548640"/>
          </a:xfrm>
          <a:prstGeom prst="rect">
            <a:avLst/>
          </a:prstGeom>
          <a:noFill/>
          <a:ln/>
        </p:spPr>
        <p:txBody>
          <a:bodyPr wrap="square" lIns="0" tIns="0" rIns="0" bIns="0" rtlCol="0" anchor="t"/>
          <a:lstStyle/>
          <a:p>
            <a:pPr algn="l" indent="0" marL="0">
              <a:buNone/>
            </a:pPr>
            <a:r>
              <a:rPr lang="en-US" sz="1800" b="1" dirty="0">
                <a:solidFill>
                  <a:schemeClr val="tx2"/>
                </a:solidFill>
              </a:rPr>
              <a:t>Frontend</a:t>
            </a:r>
            <a:endParaRPr lang="en-US" sz="1800" dirty="0"/>
          </a:p>
        </p:txBody>
      </p:sp>
      <p:sp>
        <p:nvSpPr>
          <p:cNvPr id="13" name="Text 8"/>
          <p:cNvSpPr txBox="1"/>
          <p:nvPr/>
        </p:nvSpPr>
        <p:spPr>
          <a:xfrm>
            <a:off x="2816352" y="2788920"/>
            <a:ext cx="1463040" cy="155448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React 18</a:t>
            </a:r>
            <a:endParaRPr lang="en-US" sz="1400" dirty="0"/>
          </a:p>
          <a:p>
            <a:pPr algn="l" marL="342900" indent="-342900">
              <a:spcAft>
                <a:spcPts val="600"/>
              </a:spcAft>
              <a:buSzPct val="100000"/>
              <a:buChar char="•"/>
            </a:pPr>
            <a:r>
              <a:rPr lang="en-US" sz="1400" dirty="0">
                <a:solidFill>
                  <a:schemeClr val="tx1"/>
                </a:solidFill>
              </a:rPr>
              <a:t>Vite</a:t>
            </a:r>
            <a:endParaRPr lang="en-US" sz="1400" dirty="0"/>
          </a:p>
          <a:p>
            <a:pPr algn="l" marL="342900" indent="-342900">
              <a:spcAft>
                <a:spcPts val="600"/>
              </a:spcAft>
              <a:buSzPct val="100000"/>
              <a:buChar char="•"/>
            </a:pPr>
            <a:r>
              <a:rPr lang="en-US" sz="1400" dirty="0">
                <a:solidFill>
                  <a:schemeClr val="tx1"/>
                </a:solidFill>
              </a:rPr>
              <a:t>React Router</a:t>
            </a:r>
            <a:endParaRPr lang="en-US" sz="1400" dirty="0"/>
          </a:p>
          <a:p>
            <a:pPr algn="l" marL="342900" indent="-342900">
              <a:spcAft>
                <a:spcPts val="600"/>
              </a:spcAft>
              <a:buSzPct val="100000"/>
              <a:buChar char="•"/>
            </a:pPr>
            <a:r>
              <a:rPr lang="en-US" sz="1400" dirty="0">
                <a:solidFill>
                  <a:schemeClr val="tx1"/>
                </a:solidFill>
              </a:rPr>
              <a:t>Axios, Recharts</a:t>
            </a:r>
            <a:endParaRPr lang="en-US" sz="1400" dirty="0"/>
          </a:p>
        </p:txBody>
      </p:sp>
      <p:sp>
        <p:nvSpPr>
          <p:cNvPr id="14" name="Data and auth"/>
          <p:cNvSpPr/>
          <p:nvPr/>
        </p:nvSpPr>
        <p:spPr>
          <a:xfrm>
            <a:off x="4718304" y="1188720"/>
            <a:ext cx="1828800" cy="3291840"/>
          </a:xfrm>
          <a:prstGeom prst="roundRect">
            <a:avLst>
              <a:gd name="adj" fmla="val 6000"/>
            </a:avLst>
          </a:prstGeom>
          <a:solidFill>
            <a:schemeClr val="bg2"/>
          </a:solidFill>
          <a:ln/>
        </p:spPr>
      </p:sp>
      <p:sp>
        <p:nvSpPr>
          <p:cNvPr id="15" name="Data and auth circle"/>
          <p:cNvSpPr/>
          <p:nvPr/>
        </p:nvSpPr>
        <p:spPr>
          <a:xfrm>
            <a:off x="4946904" y="1417320"/>
            <a:ext cx="594360" cy="594360"/>
          </a:xfrm>
          <a:prstGeom prst="ellipse">
            <a:avLst/>
          </a:prstGeom>
          <a:solidFill>
            <a:schemeClr val="accent2"/>
          </a:solidFill>
          <a:ln/>
        </p:spPr>
      </p:sp>
      <p:pic>
        <p:nvPicPr>
          <p:cNvPr id="16" name="Image 2" descr="Data and auth icon">    </p:cNvPr>
          <p:cNvPicPr>
            <a:picLocks noChangeAspect="1"/>
          </p:cNvPicPr>
          <p:nvPr/>
        </p:nvPicPr>
        <p:blipFill>
          <a:blip r:embed="rId3"/>
          <a:stretch>
            <a:fillRect/>
          </a:stretch>
        </p:blipFill>
        <p:spPr>
          <a:xfrm>
            <a:off x="5095494" y="1565910"/>
            <a:ext cx="297180" cy="297180"/>
          </a:xfrm>
          <a:prstGeom prst="rect">
            <a:avLst/>
          </a:prstGeom>
        </p:spPr>
      </p:pic>
      <p:sp>
        <p:nvSpPr>
          <p:cNvPr id="17" name="Text 11"/>
          <p:cNvSpPr txBox="1"/>
          <p:nvPr/>
        </p:nvSpPr>
        <p:spPr>
          <a:xfrm>
            <a:off x="4946904" y="2148840"/>
            <a:ext cx="1463040" cy="548640"/>
          </a:xfrm>
          <a:prstGeom prst="rect">
            <a:avLst/>
          </a:prstGeom>
          <a:noFill/>
          <a:ln/>
        </p:spPr>
        <p:txBody>
          <a:bodyPr wrap="square" lIns="0" tIns="0" rIns="0" bIns="0" rtlCol="0" anchor="t"/>
          <a:lstStyle/>
          <a:p>
            <a:pPr algn="l" indent="0" marL="0">
              <a:buNone/>
            </a:pPr>
            <a:r>
              <a:rPr lang="en-US" sz="1800" b="1" dirty="0">
                <a:solidFill>
                  <a:schemeClr val="tx2"/>
                </a:solidFill>
              </a:rPr>
              <a:t>Data and auth</a:t>
            </a:r>
            <a:endParaRPr lang="en-US" sz="1800" dirty="0"/>
          </a:p>
        </p:txBody>
      </p:sp>
      <p:sp>
        <p:nvSpPr>
          <p:cNvPr id="18" name="Text 12"/>
          <p:cNvSpPr txBox="1"/>
          <p:nvPr/>
        </p:nvSpPr>
        <p:spPr>
          <a:xfrm>
            <a:off x="4946904" y="2788920"/>
            <a:ext cx="1463040" cy="155448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MySQL 8</a:t>
            </a:r>
            <a:endParaRPr lang="en-US" sz="1400" dirty="0"/>
          </a:p>
          <a:p>
            <a:pPr algn="l" marL="342900" indent="-342900">
              <a:spcAft>
                <a:spcPts val="600"/>
              </a:spcAft>
              <a:buSzPct val="100000"/>
              <a:buChar char="•"/>
            </a:pPr>
            <a:r>
              <a:rPr lang="en-US" sz="1400" dirty="0">
                <a:solidFill>
                  <a:schemeClr val="tx1"/>
                </a:solidFill>
              </a:rPr>
              <a:t>JWT (jjwt)</a:t>
            </a:r>
            <a:endParaRPr lang="en-US" sz="1400" dirty="0"/>
          </a:p>
          <a:p>
            <a:pPr algn="l" marL="342900" indent="-342900">
              <a:spcAft>
                <a:spcPts val="600"/>
              </a:spcAft>
              <a:buSzPct val="100000"/>
              <a:buChar char="•"/>
            </a:pPr>
            <a:r>
              <a:rPr lang="en-US" sz="1400" dirty="0">
                <a:solidFill>
                  <a:schemeClr val="tx1"/>
                </a:solidFill>
              </a:rPr>
              <a:t>BCrypt</a:t>
            </a:r>
            <a:endParaRPr lang="en-US" sz="1400" dirty="0"/>
          </a:p>
        </p:txBody>
      </p:sp>
      <p:sp>
        <p:nvSpPr>
          <p:cNvPr id="19" name="AI and reports"/>
          <p:cNvSpPr/>
          <p:nvPr/>
        </p:nvSpPr>
        <p:spPr>
          <a:xfrm>
            <a:off x="6848856" y="1188720"/>
            <a:ext cx="1828800" cy="3291840"/>
          </a:xfrm>
          <a:prstGeom prst="roundRect">
            <a:avLst>
              <a:gd name="adj" fmla="val 6000"/>
            </a:avLst>
          </a:prstGeom>
          <a:solidFill>
            <a:schemeClr val="bg2"/>
          </a:solidFill>
          <a:ln/>
        </p:spPr>
      </p:sp>
      <p:sp>
        <p:nvSpPr>
          <p:cNvPr id="20" name="AI and reports circle"/>
          <p:cNvSpPr/>
          <p:nvPr/>
        </p:nvSpPr>
        <p:spPr>
          <a:xfrm>
            <a:off x="7077456" y="1417320"/>
            <a:ext cx="594360" cy="594360"/>
          </a:xfrm>
          <a:prstGeom prst="ellipse">
            <a:avLst/>
          </a:prstGeom>
          <a:solidFill>
            <a:schemeClr val="accent5"/>
          </a:solidFill>
          <a:ln/>
        </p:spPr>
      </p:sp>
      <p:pic>
        <p:nvPicPr>
          <p:cNvPr id="21" name="Image 3" descr="AI and reports icon">    </p:cNvPr>
          <p:cNvPicPr>
            <a:picLocks noChangeAspect="1"/>
          </p:cNvPicPr>
          <p:nvPr/>
        </p:nvPicPr>
        <p:blipFill>
          <a:blip r:embed="rId4"/>
          <a:stretch>
            <a:fillRect/>
          </a:stretch>
        </p:blipFill>
        <p:spPr>
          <a:xfrm>
            <a:off x="7226046" y="1565910"/>
            <a:ext cx="297180" cy="297180"/>
          </a:xfrm>
          <a:prstGeom prst="rect">
            <a:avLst/>
          </a:prstGeom>
        </p:spPr>
      </p:pic>
      <p:sp>
        <p:nvSpPr>
          <p:cNvPr id="22" name="Text 15"/>
          <p:cNvSpPr txBox="1"/>
          <p:nvPr/>
        </p:nvSpPr>
        <p:spPr>
          <a:xfrm>
            <a:off x="7077456" y="2148840"/>
            <a:ext cx="1463040" cy="548640"/>
          </a:xfrm>
          <a:prstGeom prst="rect">
            <a:avLst/>
          </a:prstGeom>
          <a:noFill/>
          <a:ln/>
        </p:spPr>
        <p:txBody>
          <a:bodyPr wrap="square" lIns="0" tIns="0" rIns="0" bIns="0" rtlCol="0" anchor="t"/>
          <a:lstStyle/>
          <a:p>
            <a:pPr algn="l" indent="0" marL="0">
              <a:buNone/>
            </a:pPr>
            <a:r>
              <a:rPr lang="en-US" sz="1800" b="1" dirty="0">
                <a:solidFill>
                  <a:schemeClr val="tx2"/>
                </a:solidFill>
              </a:rPr>
              <a:t>AI and reports</a:t>
            </a:r>
            <a:endParaRPr lang="en-US" sz="1800" dirty="0"/>
          </a:p>
        </p:txBody>
      </p:sp>
      <p:sp>
        <p:nvSpPr>
          <p:cNvPr id="23" name="Text 16"/>
          <p:cNvSpPr txBox="1"/>
          <p:nvPr/>
        </p:nvSpPr>
        <p:spPr>
          <a:xfrm>
            <a:off x="7077456" y="2788920"/>
            <a:ext cx="1463040" cy="155448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Gemini API</a:t>
            </a:r>
            <a:endParaRPr lang="en-US" sz="1400" dirty="0"/>
          </a:p>
          <a:p>
            <a:pPr algn="l" marL="342900" indent="-342900">
              <a:spcAft>
                <a:spcPts val="600"/>
              </a:spcAft>
              <a:buSzPct val="100000"/>
              <a:buChar char="•"/>
            </a:pPr>
            <a:r>
              <a:rPr lang="en-US" sz="1400" dirty="0">
                <a:solidFill>
                  <a:schemeClr val="tx1"/>
                </a:solidFill>
              </a:rPr>
              <a:t>Ollama + Mistral</a:t>
            </a:r>
            <a:endParaRPr lang="en-US" sz="1400" dirty="0"/>
          </a:p>
          <a:p>
            <a:pPr algn="l" marL="342900" indent="-342900">
              <a:spcAft>
                <a:spcPts val="600"/>
              </a:spcAft>
              <a:buSzPct val="100000"/>
              <a:buChar char="•"/>
            </a:pPr>
            <a:r>
              <a:rPr lang="en-US" sz="1400" dirty="0">
                <a:solidFill>
                  <a:schemeClr val="tx1"/>
                </a:solidFill>
              </a:rPr>
              <a:t>Apache POI</a:t>
            </a:r>
            <a:endParaRPr lang="en-US" sz="1400" dirty="0"/>
          </a:p>
          <a:p>
            <a:pPr algn="l" marL="342900" indent="-342900">
              <a:spcAft>
                <a:spcPts val="600"/>
              </a:spcAft>
              <a:buSzPct val="100000"/>
              <a:buChar char="•"/>
            </a:pPr>
            <a:r>
              <a:rPr lang="en-US" sz="1400" dirty="0">
                <a:solidFill>
                  <a:schemeClr val="tx1"/>
                </a:solidFill>
              </a:rPr>
              <a:t>OpenPDF</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Database Design</a:t>
            </a:r>
            <a:endParaRPr lang="en-US" sz="3600" dirty="0"/>
          </a:p>
        </p:txBody>
      </p:sp>
      <p:sp>
        <p:nvSpPr>
          <p:cNvPr id="4" name="ER frame"/>
          <p:cNvSpPr/>
          <p:nvPr/>
        </p:nvSpPr>
        <p:spPr>
          <a:xfrm>
            <a:off x="457200" y="1188720"/>
            <a:ext cx="5394960" cy="3018192"/>
          </a:xfrm>
          <a:prstGeom prst="roundRect">
            <a:avLst>
              <a:gd name="adj" fmla="val 3636"/>
            </a:avLst>
          </a:prstGeom>
          <a:solidFill>
            <a:schemeClr val="bg2"/>
          </a:solidFill>
          <a:ln/>
        </p:spPr>
      </p:sp>
      <p:pic>
        <p:nvPicPr>
          <p:cNvPr id="5" name="Image 0" descr="ER diagram of users, customers and leads">    </p:cNvPr>
          <p:cNvPicPr>
            <a:picLocks noChangeAspect="1"/>
          </p:cNvPicPr>
          <p:nvPr/>
        </p:nvPicPr>
        <p:blipFill>
          <a:blip r:embed="rId1"/>
          <a:stretch>
            <a:fillRect/>
          </a:stretch>
        </p:blipFill>
        <p:spPr>
          <a:xfrm>
            <a:off x="594360" y="1325880"/>
            <a:ext cx="5120640" cy="2743872"/>
          </a:xfrm>
          <a:prstGeom prst="rect">
            <a:avLst/>
          </a:prstGeom>
        </p:spPr>
      </p:pic>
      <p:sp>
        <p:nvSpPr>
          <p:cNvPr id="6" name="DB facts"/>
          <p:cNvSpPr/>
          <p:nvPr/>
        </p:nvSpPr>
        <p:spPr>
          <a:xfrm>
            <a:off x="6217920" y="1188720"/>
            <a:ext cx="2468880" cy="3200400"/>
          </a:xfrm>
          <a:prstGeom prst="roundRect">
            <a:avLst>
              <a:gd name="adj" fmla="val 4444"/>
            </a:avLst>
          </a:prstGeom>
          <a:solidFill>
            <a:schemeClr val="bg2"/>
          </a:solidFill>
          <a:ln/>
        </p:spPr>
      </p:sp>
      <p:sp>
        <p:nvSpPr>
          <p:cNvPr id="7" name="Text 3"/>
          <p:cNvSpPr txBox="1"/>
          <p:nvPr/>
        </p:nvSpPr>
        <p:spPr>
          <a:xfrm>
            <a:off x="6400800" y="1371600"/>
            <a:ext cx="2148840" cy="2834640"/>
          </a:xfrm>
          <a:prstGeom prst="rect">
            <a:avLst/>
          </a:prstGeom>
          <a:noFill/>
          <a:ln/>
        </p:spPr>
        <p:txBody>
          <a:bodyPr wrap="square" lIns="0" tIns="0" rIns="0" bIns="0" rtlCol="0" anchor="t"/>
          <a:lstStyle/>
          <a:p>
            <a:pPr algn="l" marL="342900" indent="-342900">
              <a:spcAft>
                <a:spcPts val="1000"/>
              </a:spcAft>
              <a:buSzPct val="100000"/>
              <a:buChar char="•"/>
            </a:pPr>
            <a:r>
              <a:rPr lang="en-US" sz="1400" dirty="0">
                <a:solidFill>
                  <a:schemeClr val="tx1"/>
                </a:solidFill>
              </a:rPr>
              <a:t>3 tables: users, customers, leads</a:t>
            </a:r>
            <a:endParaRPr lang="en-US" sz="1400" dirty="0"/>
          </a:p>
          <a:p>
            <a:pPr algn="l" marL="342900" indent="-342900">
              <a:spcAft>
                <a:spcPts val="1000"/>
              </a:spcAft>
              <a:buSzPct val="100000"/>
              <a:buChar char="•"/>
            </a:pPr>
            <a:r>
              <a:rPr lang="en-US" sz="1400" dirty="0">
                <a:solidFill>
                  <a:schemeClr val="tx1"/>
                </a:solidFill>
              </a:rPr>
              <a:t>One customer has many leads</a:t>
            </a:r>
            <a:endParaRPr lang="en-US" sz="1400" dirty="0"/>
          </a:p>
          <a:p>
            <a:pPr algn="l" marL="342900" indent="-342900">
              <a:spcAft>
                <a:spcPts val="1000"/>
              </a:spcAft>
              <a:buSzPct val="100000"/>
              <a:buChar char="•"/>
            </a:pPr>
            <a:r>
              <a:rPr lang="en-US" sz="1400" dirty="0">
                <a:solidFill>
                  <a:schemeClr val="tx1"/>
                </a:solidFill>
              </a:rPr>
              <a:t>Stage is an enum: NEW to LOST</a:t>
            </a:r>
            <a:endParaRPr lang="en-US" sz="1400" dirty="0"/>
          </a:p>
          <a:p>
            <a:pPr algn="l" marL="342900" indent="-342900">
              <a:spcAft>
                <a:spcPts val="1000"/>
              </a:spcAft>
              <a:buSzPct val="100000"/>
              <a:buChar char="•"/>
            </a:pPr>
            <a:r>
              <a:rPr lang="en-US" sz="1400" dirty="0">
                <a:solidFill>
                  <a:schemeClr val="tx1"/>
                </a:solidFill>
              </a:rPr>
              <a:t>Tables auto-created by Hibernate</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Secure Login with JWT</a:t>
            </a:r>
            <a:endParaRPr lang="en-US" sz="3600" dirty="0"/>
          </a:p>
        </p:txBody>
      </p:sp>
      <p:sp>
        <p:nvSpPr>
          <p:cNvPr id="4" name="Login"/>
          <p:cNvSpPr/>
          <p:nvPr/>
        </p:nvSpPr>
        <p:spPr>
          <a:xfrm>
            <a:off x="457200" y="1188720"/>
            <a:ext cx="1463040" cy="2468880"/>
          </a:xfrm>
          <a:prstGeom prst="roundRect">
            <a:avLst>
              <a:gd name="adj" fmla="val 7500"/>
            </a:avLst>
          </a:prstGeom>
          <a:solidFill>
            <a:schemeClr val="bg2"/>
          </a:solidFill>
          <a:ln/>
        </p:spPr>
      </p:sp>
      <p:sp>
        <p:nvSpPr>
          <p:cNvPr id="5" name="Step 1"/>
          <p:cNvSpPr/>
          <p:nvPr/>
        </p:nvSpPr>
        <p:spPr>
          <a:xfrm>
            <a:off x="640080" y="1371600"/>
            <a:ext cx="502920" cy="502920"/>
          </a:xfrm>
          <a:prstGeom prst="ellipse">
            <a:avLst/>
          </a:prstGeom>
          <a:solidFill>
            <a:schemeClr val="accent1"/>
          </a:solidFill>
          <a:ln/>
        </p:spPr>
      </p:sp>
      <p:sp>
        <p:nvSpPr>
          <p:cNvPr id="6" name="Text 3"/>
          <p:cNvSpPr txBox="1"/>
          <p:nvPr/>
        </p:nvSpPr>
        <p:spPr>
          <a:xfrm>
            <a:off x="640080" y="1371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640080" y="2011680"/>
            <a:ext cx="1188720" cy="320040"/>
          </a:xfrm>
          <a:prstGeom prst="rect">
            <a:avLst/>
          </a:prstGeom>
          <a:noFill/>
          <a:ln/>
        </p:spPr>
        <p:txBody>
          <a:bodyPr wrap="square" lIns="0" tIns="0" rIns="0" bIns="0" rtlCol="0" anchor="t"/>
          <a:lstStyle/>
          <a:p>
            <a:pPr algn="l" indent="0" marL="0">
              <a:buNone/>
            </a:pPr>
            <a:r>
              <a:rPr lang="en-US" sz="1800" b="1" dirty="0">
                <a:solidFill>
                  <a:schemeClr val="tx2"/>
                </a:solidFill>
              </a:rPr>
              <a:t>Login</a:t>
            </a:r>
            <a:endParaRPr lang="en-US" sz="1800" dirty="0"/>
          </a:p>
        </p:txBody>
      </p:sp>
      <p:sp>
        <p:nvSpPr>
          <p:cNvPr id="8" name="Text 5"/>
          <p:cNvSpPr txBox="1"/>
          <p:nvPr/>
        </p:nvSpPr>
        <p:spPr>
          <a:xfrm>
            <a:off x="640080" y="2423160"/>
            <a:ext cx="1188720" cy="1143000"/>
          </a:xfrm>
          <a:prstGeom prst="rect">
            <a:avLst/>
          </a:prstGeom>
          <a:noFill/>
          <a:ln/>
        </p:spPr>
        <p:txBody>
          <a:bodyPr wrap="square" lIns="0" tIns="0" rIns="0" bIns="0" rtlCol="0" anchor="t"/>
          <a:lstStyle/>
          <a:p>
            <a:pPr algn="l" indent="0" marL="0">
              <a:buNone/>
            </a:pPr>
            <a:r>
              <a:rPr lang="en-US" sz="1400" dirty="0">
                <a:solidFill>
                  <a:schemeClr val="tx1"/>
                </a:solidFill>
              </a:rPr>
              <a:t>User sends username and password</a:t>
            </a:r>
            <a:endParaRPr lang="en-US" sz="1400" dirty="0"/>
          </a:p>
        </p:txBody>
      </p:sp>
      <p:sp>
        <p:nvSpPr>
          <p:cNvPr id="9" name="Verify"/>
          <p:cNvSpPr/>
          <p:nvPr/>
        </p:nvSpPr>
        <p:spPr>
          <a:xfrm>
            <a:off x="2148840" y="1188720"/>
            <a:ext cx="1463040" cy="2468880"/>
          </a:xfrm>
          <a:prstGeom prst="roundRect">
            <a:avLst>
              <a:gd name="adj" fmla="val 7500"/>
            </a:avLst>
          </a:prstGeom>
          <a:solidFill>
            <a:schemeClr val="bg2"/>
          </a:solidFill>
          <a:ln/>
        </p:spPr>
      </p:sp>
      <p:sp>
        <p:nvSpPr>
          <p:cNvPr id="10" name="Step 2"/>
          <p:cNvSpPr/>
          <p:nvPr/>
        </p:nvSpPr>
        <p:spPr>
          <a:xfrm>
            <a:off x="2331720" y="1371600"/>
            <a:ext cx="502920" cy="502920"/>
          </a:xfrm>
          <a:prstGeom prst="ellipse">
            <a:avLst/>
          </a:prstGeom>
          <a:solidFill>
            <a:schemeClr val="accent1"/>
          </a:solidFill>
          <a:ln/>
        </p:spPr>
      </p:sp>
      <p:sp>
        <p:nvSpPr>
          <p:cNvPr id="11" name="Text 8"/>
          <p:cNvSpPr txBox="1"/>
          <p:nvPr/>
        </p:nvSpPr>
        <p:spPr>
          <a:xfrm>
            <a:off x="2331720" y="1371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2331720" y="2011680"/>
            <a:ext cx="1188720" cy="320040"/>
          </a:xfrm>
          <a:prstGeom prst="rect">
            <a:avLst/>
          </a:prstGeom>
          <a:noFill/>
          <a:ln/>
        </p:spPr>
        <p:txBody>
          <a:bodyPr wrap="square" lIns="0" tIns="0" rIns="0" bIns="0" rtlCol="0" anchor="t"/>
          <a:lstStyle/>
          <a:p>
            <a:pPr algn="l" indent="0" marL="0">
              <a:buNone/>
            </a:pPr>
            <a:r>
              <a:rPr lang="en-US" sz="1800" b="1" dirty="0">
                <a:solidFill>
                  <a:schemeClr val="tx2"/>
                </a:solidFill>
              </a:rPr>
              <a:t>Verify</a:t>
            </a:r>
            <a:endParaRPr lang="en-US" sz="1800" dirty="0"/>
          </a:p>
        </p:txBody>
      </p:sp>
      <p:sp>
        <p:nvSpPr>
          <p:cNvPr id="13" name="Text 10"/>
          <p:cNvSpPr txBox="1"/>
          <p:nvPr/>
        </p:nvSpPr>
        <p:spPr>
          <a:xfrm>
            <a:off x="2331720" y="2423160"/>
            <a:ext cx="1188720" cy="1143000"/>
          </a:xfrm>
          <a:prstGeom prst="rect">
            <a:avLst/>
          </a:prstGeom>
          <a:noFill/>
          <a:ln/>
        </p:spPr>
        <p:txBody>
          <a:bodyPr wrap="square" lIns="0" tIns="0" rIns="0" bIns="0" rtlCol="0" anchor="t"/>
          <a:lstStyle/>
          <a:p>
            <a:pPr algn="l" indent="0" marL="0">
              <a:buNone/>
            </a:pPr>
            <a:r>
              <a:rPr lang="en-US" sz="1400" dirty="0">
                <a:solidFill>
                  <a:schemeClr val="tx1"/>
                </a:solidFill>
              </a:rPr>
              <a:t>BCrypt hash is checked in MySQL</a:t>
            </a:r>
            <a:endParaRPr lang="en-US" sz="1400" dirty="0"/>
          </a:p>
        </p:txBody>
      </p:sp>
      <p:sp>
        <p:nvSpPr>
          <p:cNvPr id="14" name="Token"/>
          <p:cNvSpPr/>
          <p:nvPr/>
        </p:nvSpPr>
        <p:spPr>
          <a:xfrm>
            <a:off x="3840480" y="1188720"/>
            <a:ext cx="1463040" cy="2468880"/>
          </a:xfrm>
          <a:prstGeom prst="roundRect">
            <a:avLst>
              <a:gd name="adj" fmla="val 7500"/>
            </a:avLst>
          </a:prstGeom>
          <a:solidFill>
            <a:schemeClr val="bg2"/>
          </a:solidFill>
          <a:ln/>
        </p:spPr>
      </p:sp>
      <p:sp>
        <p:nvSpPr>
          <p:cNvPr id="15" name="Step 3"/>
          <p:cNvSpPr/>
          <p:nvPr/>
        </p:nvSpPr>
        <p:spPr>
          <a:xfrm>
            <a:off x="4023360" y="1371600"/>
            <a:ext cx="502920" cy="502920"/>
          </a:xfrm>
          <a:prstGeom prst="ellipse">
            <a:avLst/>
          </a:prstGeom>
          <a:solidFill>
            <a:schemeClr val="accent1"/>
          </a:solidFill>
          <a:ln/>
        </p:spPr>
      </p:sp>
      <p:sp>
        <p:nvSpPr>
          <p:cNvPr id="16" name="Text 13"/>
          <p:cNvSpPr txBox="1"/>
          <p:nvPr/>
        </p:nvSpPr>
        <p:spPr>
          <a:xfrm>
            <a:off x="4023360" y="1371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4023360" y="2011680"/>
            <a:ext cx="1188720" cy="320040"/>
          </a:xfrm>
          <a:prstGeom prst="rect">
            <a:avLst/>
          </a:prstGeom>
          <a:noFill/>
          <a:ln/>
        </p:spPr>
        <p:txBody>
          <a:bodyPr wrap="square" lIns="0" tIns="0" rIns="0" bIns="0" rtlCol="0" anchor="t"/>
          <a:lstStyle/>
          <a:p>
            <a:pPr algn="l" indent="0" marL="0">
              <a:buNone/>
            </a:pPr>
            <a:r>
              <a:rPr lang="en-US" sz="1800" b="1" dirty="0">
                <a:solidFill>
                  <a:schemeClr val="tx2"/>
                </a:solidFill>
              </a:rPr>
              <a:t>Token</a:t>
            </a:r>
            <a:endParaRPr lang="en-US" sz="1800" dirty="0"/>
          </a:p>
        </p:txBody>
      </p:sp>
      <p:sp>
        <p:nvSpPr>
          <p:cNvPr id="18" name="Text 15"/>
          <p:cNvSpPr txBox="1"/>
          <p:nvPr/>
        </p:nvSpPr>
        <p:spPr>
          <a:xfrm>
            <a:off x="4023360" y="2423160"/>
            <a:ext cx="1188720" cy="1143000"/>
          </a:xfrm>
          <a:prstGeom prst="rect">
            <a:avLst/>
          </a:prstGeom>
          <a:noFill/>
          <a:ln/>
        </p:spPr>
        <p:txBody>
          <a:bodyPr wrap="square" lIns="0" tIns="0" rIns="0" bIns="0" rtlCol="0" anchor="t"/>
          <a:lstStyle/>
          <a:p>
            <a:pPr algn="l" indent="0" marL="0">
              <a:buNone/>
            </a:pPr>
            <a:r>
              <a:rPr lang="en-US" sz="1400" dirty="0">
                <a:solidFill>
                  <a:schemeClr val="tx1"/>
                </a:solidFill>
              </a:rPr>
              <a:t>Server signs a JWT with expiry</a:t>
            </a:r>
            <a:endParaRPr lang="en-US" sz="1400" dirty="0"/>
          </a:p>
        </p:txBody>
      </p:sp>
      <p:sp>
        <p:nvSpPr>
          <p:cNvPr id="19" name="Request"/>
          <p:cNvSpPr/>
          <p:nvPr/>
        </p:nvSpPr>
        <p:spPr>
          <a:xfrm>
            <a:off x="5532120" y="1188720"/>
            <a:ext cx="1463040" cy="2468880"/>
          </a:xfrm>
          <a:prstGeom prst="roundRect">
            <a:avLst>
              <a:gd name="adj" fmla="val 7500"/>
            </a:avLst>
          </a:prstGeom>
          <a:solidFill>
            <a:schemeClr val="bg2"/>
          </a:solidFill>
          <a:ln/>
        </p:spPr>
      </p:sp>
      <p:sp>
        <p:nvSpPr>
          <p:cNvPr id="20" name="Step 4"/>
          <p:cNvSpPr/>
          <p:nvPr/>
        </p:nvSpPr>
        <p:spPr>
          <a:xfrm>
            <a:off x="5715000" y="1371600"/>
            <a:ext cx="502920" cy="502920"/>
          </a:xfrm>
          <a:prstGeom prst="ellipse">
            <a:avLst/>
          </a:prstGeom>
          <a:solidFill>
            <a:schemeClr val="accent1"/>
          </a:solidFill>
          <a:ln/>
        </p:spPr>
      </p:sp>
      <p:sp>
        <p:nvSpPr>
          <p:cNvPr id="21" name="Text 18"/>
          <p:cNvSpPr txBox="1"/>
          <p:nvPr/>
        </p:nvSpPr>
        <p:spPr>
          <a:xfrm>
            <a:off x="5715000" y="1371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19"/>
          <p:cNvSpPr txBox="1"/>
          <p:nvPr/>
        </p:nvSpPr>
        <p:spPr>
          <a:xfrm>
            <a:off x="5715000" y="2011680"/>
            <a:ext cx="1188720" cy="320040"/>
          </a:xfrm>
          <a:prstGeom prst="rect">
            <a:avLst/>
          </a:prstGeom>
          <a:noFill/>
          <a:ln/>
        </p:spPr>
        <p:txBody>
          <a:bodyPr wrap="square" lIns="0" tIns="0" rIns="0" bIns="0" rtlCol="0" anchor="t"/>
          <a:lstStyle/>
          <a:p>
            <a:pPr algn="l" indent="0" marL="0">
              <a:buNone/>
            </a:pPr>
            <a:r>
              <a:rPr lang="en-US" sz="1800" b="1" dirty="0">
                <a:solidFill>
                  <a:schemeClr val="tx2"/>
                </a:solidFill>
              </a:rPr>
              <a:t>Request</a:t>
            </a:r>
            <a:endParaRPr lang="en-US" sz="1800" dirty="0"/>
          </a:p>
        </p:txBody>
      </p:sp>
      <p:sp>
        <p:nvSpPr>
          <p:cNvPr id="23" name="Text 20"/>
          <p:cNvSpPr txBox="1"/>
          <p:nvPr/>
        </p:nvSpPr>
        <p:spPr>
          <a:xfrm>
            <a:off x="5715000" y="2423160"/>
            <a:ext cx="1188720" cy="1143000"/>
          </a:xfrm>
          <a:prstGeom prst="rect">
            <a:avLst/>
          </a:prstGeom>
          <a:noFill/>
          <a:ln/>
        </p:spPr>
        <p:txBody>
          <a:bodyPr wrap="square" lIns="0" tIns="0" rIns="0" bIns="0" rtlCol="0" anchor="t"/>
          <a:lstStyle/>
          <a:p>
            <a:pPr algn="l" indent="0" marL="0">
              <a:buNone/>
            </a:pPr>
            <a:r>
              <a:rPr lang="en-US" sz="1400" dirty="0">
                <a:solidFill>
                  <a:schemeClr val="tx1"/>
                </a:solidFill>
              </a:rPr>
              <a:t>Axios adds the Bearer token to every call</a:t>
            </a:r>
            <a:endParaRPr lang="en-US" sz="1400" dirty="0"/>
          </a:p>
        </p:txBody>
      </p:sp>
      <p:sp>
        <p:nvSpPr>
          <p:cNvPr id="24" name="Validate"/>
          <p:cNvSpPr/>
          <p:nvPr/>
        </p:nvSpPr>
        <p:spPr>
          <a:xfrm>
            <a:off x="7223760" y="1188720"/>
            <a:ext cx="1463040" cy="2468880"/>
          </a:xfrm>
          <a:prstGeom prst="roundRect">
            <a:avLst>
              <a:gd name="adj" fmla="val 7500"/>
            </a:avLst>
          </a:prstGeom>
          <a:solidFill>
            <a:schemeClr val="bg2"/>
          </a:solidFill>
          <a:ln/>
        </p:spPr>
      </p:sp>
      <p:sp>
        <p:nvSpPr>
          <p:cNvPr id="25" name="Step 5"/>
          <p:cNvSpPr/>
          <p:nvPr/>
        </p:nvSpPr>
        <p:spPr>
          <a:xfrm>
            <a:off x="7406640" y="1371600"/>
            <a:ext cx="502920" cy="502920"/>
          </a:xfrm>
          <a:prstGeom prst="ellipse">
            <a:avLst/>
          </a:prstGeom>
          <a:solidFill>
            <a:schemeClr val="accent1"/>
          </a:solidFill>
          <a:ln/>
        </p:spPr>
      </p:sp>
      <p:sp>
        <p:nvSpPr>
          <p:cNvPr id="26" name="Text 23"/>
          <p:cNvSpPr txBox="1"/>
          <p:nvPr/>
        </p:nvSpPr>
        <p:spPr>
          <a:xfrm>
            <a:off x="7406640" y="1371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4"/>
          <p:cNvSpPr txBox="1"/>
          <p:nvPr/>
        </p:nvSpPr>
        <p:spPr>
          <a:xfrm>
            <a:off x="7406640" y="2011680"/>
            <a:ext cx="1188720" cy="320040"/>
          </a:xfrm>
          <a:prstGeom prst="rect">
            <a:avLst/>
          </a:prstGeom>
          <a:noFill/>
          <a:ln/>
        </p:spPr>
        <p:txBody>
          <a:bodyPr wrap="square" lIns="0" tIns="0" rIns="0" bIns="0" rtlCol="0" anchor="t"/>
          <a:lstStyle/>
          <a:p>
            <a:pPr algn="l" indent="0" marL="0">
              <a:buNone/>
            </a:pPr>
            <a:r>
              <a:rPr lang="en-US" sz="1800" b="1" dirty="0">
                <a:solidFill>
                  <a:schemeClr val="tx2"/>
                </a:solidFill>
              </a:rPr>
              <a:t>Validate</a:t>
            </a:r>
            <a:endParaRPr lang="en-US" sz="1800" dirty="0"/>
          </a:p>
        </p:txBody>
      </p:sp>
      <p:sp>
        <p:nvSpPr>
          <p:cNvPr id="28" name="Text 25"/>
          <p:cNvSpPr txBox="1"/>
          <p:nvPr/>
        </p:nvSpPr>
        <p:spPr>
          <a:xfrm>
            <a:off x="7406640" y="2423160"/>
            <a:ext cx="1188720" cy="1143000"/>
          </a:xfrm>
          <a:prstGeom prst="rect">
            <a:avLst/>
          </a:prstGeom>
          <a:noFill/>
          <a:ln/>
        </p:spPr>
        <p:txBody>
          <a:bodyPr wrap="square" lIns="0" tIns="0" rIns="0" bIns="0" rtlCol="0" anchor="t"/>
          <a:lstStyle/>
          <a:p>
            <a:pPr algn="l" indent="0" marL="0">
              <a:buNone/>
            </a:pPr>
            <a:r>
              <a:rPr lang="en-US" sz="1400" dirty="0">
                <a:solidFill>
                  <a:schemeClr val="tx1"/>
                </a:solidFill>
              </a:rPr>
              <a:t>JwtFilter allows it or returns 401</a:t>
            </a:r>
            <a:endParaRPr lang="en-US" sz="1400" dirty="0"/>
          </a:p>
        </p:txBody>
      </p:sp>
      <p:sp>
        <p:nvSpPr>
          <p:cNvPr id="29" name="Security note"/>
          <p:cNvSpPr/>
          <p:nvPr/>
        </p:nvSpPr>
        <p:spPr>
          <a:xfrm>
            <a:off x="457200" y="3931920"/>
            <a:ext cx="8229600" cy="640080"/>
          </a:xfrm>
          <a:prstGeom prst="roundRect">
            <a:avLst>
              <a:gd name="adj" fmla="val 17143"/>
            </a:avLst>
          </a:prstGeom>
          <a:solidFill>
            <a:schemeClr val="accent1"/>
          </a:solidFill>
          <a:ln/>
        </p:spPr>
      </p:sp>
      <p:sp>
        <p:nvSpPr>
          <p:cNvPr id="30" name="Text 27"/>
          <p:cNvSpPr txBox="1"/>
          <p:nvPr/>
        </p:nvSpPr>
        <p:spPr>
          <a:xfrm>
            <a:off x="640080" y="3931920"/>
            <a:ext cx="7863840" cy="640080"/>
          </a:xfrm>
          <a:prstGeom prst="rect">
            <a:avLst/>
          </a:prstGeom>
          <a:noFill/>
          <a:ln/>
        </p:spPr>
        <p:txBody>
          <a:bodyPr wrap="square" lIns="0" tIns="0" rIns="0" bIns="0" rtlCol="0" anchor="ctr"/>
          <a:lstStyle/>
          <a:p>
            <a:pPr algn="l" indent="0" marL="0">
              <a:buNone/>
            </a:pPr>
            <a:r>
              <a:rPr lang="en-US" sz="1400" b="1" dirty="0">
                <a:solidFill>
                  <a:schemeClr val="bg1"/>
                </a:solidFill>
              </a:rPr>
              <a:t>Stateless sessions  |  CORS limited to the frontend  |  No plain-text passwords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Live Dashboard</a:t>
            </a:r>
            <a:endParaRPr lang="en-US" sz="3600" dirty="0"/>
          </a:p>
        </p:txBody>
      </p:sp>
      <p:pic>
        <p:nvPicPr>
          <p:cNvPr id="4" name="Image 0" descr="Dashboard screenshot">    </p:cNvPr>
          <p:cNvPicPr>
            <a:picLocks noChangeAspect="1"/>
          </p:cNvPicPr>
          <p:nvPr/>
        </p:nvPicPr>
        <p:blipFill>
          <a:blip r:embed="rId1"/>
          <a:stretch>
            <a:fillRect/>
          </a:stretch>
        </p:blipFill>
        <p:spPr>
          <a:xfrm>
            <a:off x="457200" y="1143000"/>
            <a:ext cx="8229600" cy="2057400"/>
          </a:xfrm>
          <a:prstGeom prst="rect">
            <a:avLst/>
          </a:prstGeom>
          <a:effectLst>
            <a:outerShdw sx="100000" sy="100000" kx="0" ky="0" algn="bl" rotWithShape="0" blurRad="101600" dist="25400" dir="5400000">
              <a:srgbClr val="000000">
                <a:alpha val="15000"/>
              </a:srgbClr>
            </a:outerShdw>
          </a:effectLst>
        </p:spPr>
      </p:pic>
      <p:sp>
        <p:nvSpPr>
          <p:cNvPr id="5" name="Customers"/>
          <p:cNvSpPr/>
          <p:nvPr/>
        </p:nvSpPr>
        <p:spPr>
          <a:xfrm>
            <a:off x="457200" y="3520440"/>
            <a:ext cx="2560320" cy="1051560"/>
          </a:xfrm>
          <a:prstGeom prst="roundRect">
            <a:avLst>
              <a:gd name="adj" fmla="val 10435"/>
            </a:avLst>
          </a:prstGeom>
          <a:solidFill>
            <a:schemeClr val="bg2"/>
          </a:solidFill>
          <a:ln/>
        </p:spPr>
      </p:sp>
      <p:sp>
        <p:nvSpPr>
          <p:cNvPr id="6" name="Text 2"/>
          <p:cNvSpPr txBox="1"/>
          <p:nvPr/>
        </p:nvSpPr>
        <p:spPr>
          <a:xfrm>
            <a:off x="685800" y="3593592"/>
            <a:ext cx="2194560" cy="502920"/>
          </a:xfrm>
          <a:prstGeom prst="rect">
            <a:avLst/>
          </a:prstGeom>
          <a:noFill/>
          <a:ln/>
        </p:spPr>
        <p:txBody>
          <a:bodyPr wrap="square" lIns="0" tIns="0" rIns="0" bIns="0" rtlCol="0" anchor="ctr"/>
          <a:lstStyle/>
          <a:p>
            <a:pPr algn="l" indent="0" marL="0">
              <a:buNone/>
            </a:pPr>
            <a:r>
              <a:rPr lang="en-US" sz="2800" b="1" dirty="0">
                <a:solidFill>
                  <a:schemeClr val="accent1"/>
                </a:solidFill>
              </a:rPr>
              <a:t>6</a:t>
            </a:r>
            <a:endParaRPr lang="en-US" sz="2800" dirty="0"/>
          </a:p>
        </p:txBody>
      </p:sp>
      <p:sp>
        <p:nvSpPr>
          <p:cNvPr id="7" name="Text 3"/>
          <p:cNvSpPr txBox="1"/>
          <p:nvPr/>
        </p:nvSpPr>
        <p:spPr>
          <a:xfrm>
            <a:off x="685800" y="4114800"/>
            <a:ext cx="2194560" cy="365760"/>
          </a:xfrm>
          <a:prstGeom prst="rect">
            <a:avLst/>
          </a:prstGeom>
          <a:noFill/>
          <a:ln/>
        </p:spPr>
        <p:txBody>
          <a:bodyPr wrap="square" lIns="0" tIns="0" rIns="0" bIns="0" rtlCol="0" anchor="t"/>
          <a:lstStyle/>
          <a:p>
            <a:pPr algn="l" indent="0" marL="0">
              <a:buNone/>
            </a:pPr>
            <a:r>
              <a:rPr lang="en-US" sz="1400" dirty="0">
                <a:solidFill>
                  <a:schemeClr val="tx1"/>
                </a:solidFill>
              </a:rPr>
              <a:t>Customers</a:t>
            </a:r>
            <a:endParaRPr lang="en-US" sz="1400" dirty="0"/>
          </a:p>
        </p:txBody>
      </p:sp>
      <p:sp>
        <p:nvSpPr>
          <p:cNvPr id="8" name="Total leads, 7 open"/>
          <p:cNvSpPr/>
          <p:nvPr/>
        </p:nvSpPr>
        <p:spPr>
          <a:xfrm>
            <a:off x="3291840" y="3520440"/>
            <a:ext cx="2560320" cy="1051560"/>
          </a:xfrm>
          <a:prstGeom prst="roundRect">
            <a:avLst>
              <a:gd name="adj" fmla="val 10435"/>
            </a:avLst>
          </a:prstGeom>
          <a:solidFill>
            <a:schemeClr val="bg2"/>
          </a:solidFill>
          <a:ln/>
        </p:spPr>
      </p:sp>
      <p:sp>
        <p:nvSpPr>
          <p:cNvPr id="9" name="Text 5"/>
          <p:cNvSpPr txBox="1"/>
          <p:nvPr/>
        </p:nvSpPr>
        <p:spPr>
          <a:xfrm>
            <a:off x="3520440" y="3593592"/>
            <a:ext cx="2194560" cy="502920"/>
          </a:xfrm>
          <a:prstGeom prst="rect">
            <a:avLst/>
          </a:prstGeom>
          <a:noFill/>
          <a:ln/>
        </p:spPr>
        <p:txBody>
          <a:bodyPr wrap="square" lIns="0" tIns="0" rIns="0" bIns="0" rtlCol="0" anchor="ctr"/>
          <a:lstStyle/>
          <a:p>
            <a:pPr algn="l" indent="0" marL="0">
              <a:buNone/>
            </a:pPr>
            <a:r>
              <a:rPr lang="en-US" sz="2800" b="1" dirty="0">
                <a:solidFill>
                  <a:schemeClr val="accent1"/>
                </a:solidFill>
              </a:rPr>
              <a:t>10</a:t>
            </a:r>
            <a:endParaRPr lang="en-US" sz="2800" dirty="0"/>
          </a:p>
        </p:txBody>
      </p:sp>
      <p:sp>
        <p:nvSpPr>
          <p:cNvPr id="10" name="Text 6"/>
          <p:cNvSpPr txBox="1"/>
          <p:nvPr/>
        </p:nvSpPr>
        <p:spPr>
          <a:xfrm>
            <a:off x="3520440" y="4114800"/>
            <a:ext cx="2194560" cy="365760"/>
          </a:xfrm>
          <a:prstGeom prst="rect">
            <a:avLst/>
          </a:prstGeom>
          <a:noFill/>
          <a:ln/>
        </p:spPr>
        <p:txBody>
          <a:bodyPr wrap="square" lIns="0" tIns="0" rIns="0" bIns="0" rtlCol="0" anchor="t"/>
          <a:lstStyle/>
          <a:p>
            <a:pPr algn="l" indent="0" marL="0">
              <a:buNone/>
            </a:pPr>
            <a:r>
              <a:rPr lang="en-US" sz="1400" dirty="0">
                <a:solidFill>
                  <a:schemeClr val="tx1"/>
                </a:solidFill>
              </a:rPr>
              <a:t>Total leads, 7 open</a:t>
            </a:r>
            <a:endParaRPr lang="en-US" sz="1400" dirty="0"/>
          </a:p>
        </p:txBody>
      </p:sp>
      <p:sp>
        <p:nvSpPr>
          <p:cNvPr id="11" name="Won revenue"/>
          <p:cNvSpPr/>
          <p:nvPr/>
        </p:nvSpPr>
        <p:spPr>
          <a:xfrm>
            <a:off x="6126480" y="3520440"/>
            <a:ext cx="2560320" cy="1051560"/>
          </a:xfrm>
          <a:prstGeom prst="roundRect">
            <a:avLst>
              <a:gd name="adj" fmla="val 10435"/>
            </a:avLst>
          </a:prstGeom>
          <a:solidFill>
            <a:schemeClr val="bg2"/>
          </a:solidFill>
          <a:ln/>
        </p:spPr>
      </p:sp>
      <p:sp>
        <p:nvSpPr>
          <p:cNvPr id="12" name="Text 8"/>
          <p:cNvSpPr txBox="1"/>
          <p:nvPr/>
        </p:nvSpPr>
        <p:spPr>
          <a:xfrm>
            <a:off x="6355080" y="3593592"/>
            <a:ext cx="2194560" cy="502920"/>
          </a:xfrm>
          <a:prstGeom prst="rect">
            <a:avLst/>
          </a:prstGeom>
          <a:noFill/>
          <a:ln/>
        </p:spPr>
        <p:txBody>
          <a:bodyPr wrap="square" lIns="0" tIns="0" rIns="0" bIns="0" rtlCol="0" anchor="ctr"/>
          <a:lstStyle/>
          <a:p>
            <a:pPr algn="l" indent="0" marL="0">
              <a:buNone/>
            </a:pPr>
            <a:r>
              <a:rPr lang="en-US" sz="2800" b="1" dirty="0">
                <a:solidFill>
                  <a:schemeClr val="accent1"/>
                </a:solidFill>
              </a:rPr>
              <a:t>Rs. 10,00,000</a:t>
            </a:r>
            <a:endParaRPr lang="en-US" sz="2800" dirty="0"/>
          </a:p>
        </p:txBody>
      </p:sp>
      <p:sp>
        <p:nvSpPr>
          <p:cNvPr id="13" name="Text 9"/>
          <p:cNvSpPr txBox="1"/>
          <p:nvPr/>
        </p:nvSpPr>
        <p:spPr>
          <a:xfrm>
            <a:off x="6355080" y="4114800"/>
            <a:ext cx="2194560" cy="365760"/>
          </a:xfrm>
          <a:prstGeom prst="rect">
            <a:avLst/>
          </a:prstGeom>
          <a:noFill/>
          <a:ln/>
        </p:spPr>
        <p:txBody>
          <a:bodyPr wrap="square" lIns="0" tIns="0" rIns="0" bIns="0" rtlCol="0" anchor="t"/>
          <a:lstStyle/>
          <a:p>
            <a:pPr algn="l" indent="0" marL="0">
              <a:buNone/>
            </a:pPr>
            <a:r>
              <a:rPr lang="en-US" sz="1400" dirty="0">
                <a:solidFill>
                  <a:schemeClr val="tx1"/>
                </a:solidFill>
              </a:rPr>
              <a:t>Won revenue</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Customer Management</a:t>
            </a:r>
            <a:endParaRPr lang="en-US" sz="3600" dirty="0"/>
          </a:p>
        </p:txBody>
      </p:sp>
      <p:pic>
        <p:nvPicPr>
          <p:cNvPr id="4" name="Image 0" descr="Customers page screenshot">    </p:cNvPr>
          <p:cNvPicPr>
            <a:picLocks noChangeAspect="1"/>
          </p:cNvPicPr>
          <p:nvPr/>
        </p:nvPicPr>
        <p:blipFill>
          <a:blip r:embed="rId1"/>
          <a:stretch>
            <a:fillRect/>
          </a:stretch>
        </p:blipFill>
        <p:spPr>
          <a:xfrm>
            <a:off x="457200" y="1143000"/>
            <a:ext cx="8229600" cy="2057400"/>
          </a:xfrm>
          <a:prstGeom prst="rect">
            <a:avLst/>
          </a:prstGeom>
          <a:effectLst>
            <a:outerShdw sx="100000" sy="100000" kx="0" ky="0" algn="bl" rotWithShape="0" blurRad="101600" dist="25400" dir="5400000">
              <a:srgbClr val="000000">
                <a:alpha val="15000"/>
              </a:srgbClr>
            </a:outerShdw>
          </a:effectLst>
        </p:spPr>
      </p:pic>
      <p:sp>
        <p:nvSpPr>
          <p:cNvPr id="5" name="Chip Add, edit and delete customers"/>
          <p:cNvSpPr/>
          <p:nvPr/>
        </p:nvSpPr>
        <p:spPr>
          <a:xfrm>
            <a:off x="457200" y="3520440"/>
            <a:ext cx="2560320" cy="914400"/>
          </a:xfrm>
          <a:prstGeom prst="roundRect">
            <a:avLst>
              <a:gd name="adj" fmla="val 12000"/>
            </a:avLst>
          </a:prstGeom>
          <a:solidFill>
            <a:schemeClr val="bg2"/>
          </a:solidFill>
          <a:ln/>
        </p:spPr>
      </p:sp>
      <p:sp>
        <p:nvSpPr>
          <p:cNvPr id="6" name="Add, edit and delete customers circle"/>
          <p:cNvSpPr/>
          <p:nvPr/>
        </p:nvSpPr>
        <p:spPr>
          <a:xfrm>
            <a:off x="640080" y="3749040"/>
            <a:ext cx="457200" cy="457200"/>
          </a:xfrm>
          <a:prstGeom prst="ellipse">
            <a:avLst/>
          </a:prstGeom>
          <a:solidFill>
            <a:schemeClr val="accent1"/>
          </a:solidFill>
          <a:ln/>
        </p:spPr>
      </p:sp>
      <p:pic>
        <p:nvPicPr>
          <p:cNvPr id="7" name="Image 1" descr="Add, edit and delete customers icon">    </p:cNvPr>
          <p:cNvPicPr>
            <a:picLocks noChangeAspect="1"/>
          </p:cNvPicPr>
          <p:nvPr/>
        </p:nvPicPr>
        <p:blipFill>
          <a:blip r:embed="rId2"/>
          <a:stretch>
            <a:fillRect/>
          </a:stretch>
        </p:blipFill>
        <p:spPr>
          <a:xfrm>
            <a:off x="754380" y="3863340"/>
            <a:ext cx="228600" cy="228600"/>
          </a:xfrm>
          <a:prstGeom prst="rect">
            <a:avLst/>
          </a:prstGeom>
        </p:spPr>
      </p:pic>
      <p:sp>
        <p:nvSpPr>
          <p:cNvPr id="8" name="Text 3"/>
          <p:cNvSpPr txBox="1"/>
          <p:nvPr/>
        </p:nvSpPr>
        <p:spPr>
          <a:xfrm>
            <a:off x="1234440" y="3520440"/>
            <a:ext cx="1645920" cy="914400"/>
          </a:xfrm>
          <a:prstGeom prst="rect">
            <a:avLst/>
          </a:prstGeom>
          <a:noFill/>
          <a:ln/>
        </p:spPr>
        <p:txBody>
          <a:bodyPr wrap="square" lIns="0" tIns="0" rIns="0" bIns="0" rtlCol="0" anchor="ctr"/>
          <a:lstStyle/>
          <a:p>
            <a:pPr algn="l" indent="0" marL="0">
              <a:buNone/>
            </a:pPr>
            <a:r>
              <a:rPr lang="en-US" sz="1400" b="1" dirty="0">
                <a:solidFill>
                  <a:schemeClr val="tx1"/>
                </a:solidFill>
              </a:rPr>
              <a:t>Add, edit and delete customers</a:t>
            </a:r>
            <a:endParaRPr lang="en-US" sz="1400" dirty="0"/>
          </a:p>
        </p:txBody>
      </p:sp>
      <p:sp>
        <p:nvSpPr>
          <p:cNvPr id="9" name="Chip Instant search box"/>
          <p:cNvSpPr/>
          <p:nvPr/>
        </p:nvSpPr>
        <p:spPr>
          <a:xfrm>
            <a:off x="3291840" y="3520440"/>
            <a:ext cx="2560320" cy="914400"/>
          </a:xfrm>
          <a:prstGeom prst="roundRect">
            <a:avLst>
              <a:gd name="adj" fmla="val 12000"/>
            </a:avLst>
          </a:prstGeom>
          <a:solidFill>
            <a:schemeClr val="bg2"/>
          </a:solidFill>
          <a:ln/>
        </p:spPr>
      </p:sp>
      <p:sp>
        <p:nvSpPr>
          <p:cNvPr id="10" name="Instant search box circle"/>
          <p:cNvSpPr/>
          <p:nvPr/>
        </p:nvSpPr>
        <p:spPr>
          <a:xfrm>
            <a:off x="3474720" y="3749040"/>
            <a:ext cx="457200" cy="457200"/>
          </a:xfrm>
          <a:prstGeom prst="ellipse">
            <a:avLst/>
          </a:prstGeom>
          <a:solidFill>
            <a:schemeClr val="accent4"/>
          </a:solidFill>
          <a:ln/>
        </p:spPr>
      </p:sp>
      <p:pic>
        <p:nvPicPr>
          <p:cNvPr id="11" name="Image 2" descr="Instant search box icon">    </p:cNvPr>
          <p:cNvPicPr>
            <a:picLocks noChangeAspect="1"/>
          </p:cNvPicPr>
          <p:nvPr/>
        </p:nvPicPr>
        <p:blipFill>
          <a:blip r:embed="rId3"/>
          <a:stretch>
            <a:fillRect/>
          </a:stretch>
        </p:blipFill>
        <p:spPr>
          <a:xfrm>
            <a:off x="3589020" y="3863340"/>
            <a:ext cx="228600" cy="228600"/>
          </a:xfrm>
          <a:prstGeom prst="rect">
            <a:avLst/>
          </a:prstGeom>
        </p:spPr>
      </p:pic>
      <p:sp>
        <p:nvSpPr>
          <p:cNvPr id="12" name="Text 6"/>
          <p:cNvSpPr txBox="1"/>
          <p:nvPr/>
        </p:nvSpPr>
        <p:spPr>
          <a:xfrm>
            <a:off x="4069080" y="3520440"/>
            <a:ext cx="1645920" cy="914400"/>
          </a:xfrm>
          <a:prstGeom prst="rect">
            <a:avLst/>
          </a:prstGeom>
          <a:noFill/>
          <a:ln/>
        </p:spPr>
        <p:txBody>
          <a:bodyPr wrap="square" lIns="0" tIns="0" rIns="0" bIns="0" rtlCol="0" anchor="ctr"/>
          <a:lstStyle/>
          <a:p>
            <a:pPr algn="l" indent="0" marL="0">
              <a:buNone/>
            </a:pPr>
            <a:r>
              <a:rPr lang="en-US" sz="1400" b="1" dirty="0">
                <a:solidFill>
                  <a:schemeClr val="tx1"/>
                </a:solidFill>
              </a:rPr>
              <a:t>Instant search box</a:t>
            </a:r>
            <a:endParaRPr lang="en-US" sz="1400" dirty="0"/>
          </a:p>
        </p:txBody>
      </p:sp>
      <p:sp>
        <p:nvSpPr>
          <p:cNvPr id="13" name="Chip Delete also removes its leads"/>
          <p:cNvSpPr/>
          <p:nvPr/>
        </p:nvSpPr>
        <p:spPr>
          <a:xfrm>
            <a:off x="6126480" y="3520440"/>
            <a:ext cx="2560320" cy="914400"/>
          </a:xfrm>
          <a:prstGeom prst="roundRect">
            <a:avLst>
              <a:gd name="adj" fmla="val 12000"/>
            </a:avLst>
          </a:prstGeom>
          <a:solidFill>
            <a:schemeClr val="bg2"/>
          </a:solidFill>
          <a:ln/>
        </p:spPr>
      </p:sp>
      <p:sp>
        <p:nvSpPr>
          <p:cNvPr id="14" name="Delete also removes its leads circle"/>
          <p:cNvSpPr/>
          <p:nvPr/>
        </p:nvSpPr>
        <p:spPr>
          <a:xfrm>
            <a:off x="6309360" y="3749040"/>
            <a:ext cx="457200" cy="457200"/>
          </a:xfrm>
          <a:prstGeom prst="ellipse">
            <a:avLst/>
          </a:prstGeom>
          <a:solidFill>
            <a:schemeClr val="accent6"/>
          </a:solidFill>
          <a:ln/>
        </p:spPr>
      </p:sp>
      <p:pic>
        <p:nvPicPr>
          <p:cNvPr id="15" name="Image 3" descr="Delete also removes its leads icon">    </p:cNvPr>
          <p:cNvPicPr>
            <a:picLocks noChangeAspect="1"/>
          </p:cNvPicPr>
          <p:nvPr/>
        </p:nvPicPr>
        <p:blipFill>
          <a:blip r:embed="rId4"/>
          <a:stretch>
            <a:fillRect/>
          </a:stretch>
        </p:blipFill>
        <p:spPr>
          <a:xfrm>
            <a:off x="6423660" y="3863340"/>
            <a:ext cx="228600" cy="228600"/>
          </a:xfrm>
          <a:prstGeom prst="rect">
            <a:avLst/>
          </a:prstGeom>
        </p:spPr>
      </p:pic>
      <p:sp>
        <p:nvSpPr>
          <p:cNvPr id="16" name="Text 9"/>
          <p:cNvSpPr txBox="1"/>
          <p:nvPr/>
        </p:nvSpPr>
        <p:spPr>
          <a:xfrm>
            <a:off x="6903720" y="3520440"/>
            <a:ext cx="1645920" cy="914400"/>
          </a:xfrm>
          <a:prstGeom prst="rect">
            <a:avLst/>
          </a:prstGeom>
          <a:noFill/>
          <a:ln/>
        </p:spPr>
        <p:txBody>
          <a:bodyPr wrap="square" lIns="0" tIns="0" rIns="0" bIns="0" rtlCol="0" anchor="ctr"/>
          <a:lstStyle/>
          <a:p>
            <a:pPr algn="l" indent="0" marL="0">
              <a:buNone/>
            </a:pPr>
            <a:r>
              <a:rPr lang="en-US" sz="1400" b="1" dirty="0">
                <a:solidFill>
                  <a:schemeClr val="tx1"/>
                </a:solidFill>
              </a:rPr>
              <a:t>Delete also removes its leads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Lead Management</a:t>
            </a:r>
            <a:endParaRPr lang="en-US" sz="3600" dirty="0"/>
          </a:p>
        </p:txBody>
      </p:sp>
      <p:pic>
        <p:nvPicPr>
          <p:cNvPr id="4" name="Image 0" descr="Leads page screenshot">    </p:cNvPr>
          <p:cNvPicPr>
            <a:picLocks noChangeAspect="1"/>
          </p:cNvPicPr>
          <p:nvPr/>
        </p:nvPicPr>
        <p:blipFill>
          <a:blip r:embed="rId1"/>
          <a:stretch>
            <a:fillRect/>
          </a:stretch>
        </p:blipFill>
        <p:spPr>
          <a:xfrm>
            <a:off x="457200" y="1143000"/>
            <a:ext cx="7498080" cy="2295144"/>
          </a:xfrm>
          <a:prstGeom prst="rect">
            <a:avLst/>
          </a:prstGeom>
          <a:effectLst>
            <a:outerShdw sx="100000" sy="100000" kx="0" ky="0" algn="bl" rotWithShape="0" blurRad="101600" dist="25400" dir="5400000">
              <a:srgbClr val="000000">
                <a:alpha val="15000"/>
              </a:srgbClr>
            </a:outerShdw>
          </a:effectLst>
        </p:spPr>
      </p:pic>
      <p:sp>
        <p:nvSpPr>
          <p:cNvPr id="5" name="Chip Lead linked to a customer"/>
          <p:cNvSpPr/>
          <p:nvPr/>
        </p:nvSpPr>
        <p:spPr>
          <a:xfrm>
            <a:off x="457200" y="3703320"/>
            <a:ext cx="2560320" cy="868680"/>
          </a:xfrm>
          <a:prstGeom prst="roundRect">
            <a:avLst>
              <a:gd name="adj" fmla="val 12632"/>
            </a:avLst>
          </a:prstGeom>
          <a:solidFill>
            <a:schemeClr val="bg2"/>
          </a:solidFill>
          <a:ln/>
        </p:spPr>
      </p:sp>
      <p:sp>
        <p:nvSpPr>
          <p:cNvPr id="6" name="Lead linked to a customer circle"/>
          <p:cNvSpPr/>
          <p:nvPr/>
        </p:nvSpPr>
        <p:spPr>
          <a:xfrm>
            <a:off x="640080" y="3909060"/>
            <a:ext cx="457200" cy="457200"/>
          </a:xfrm>
          <a:prstGeom prst="ellipse">
            <a:avLst/>
          </a:prstGeom>
          <a:solidFill>
            <a:schemeClr val="accent1"/>
          </a:solidFill>
          <a:ln/>
        </p:spPr>
      </p:sp>
      <p:pic>
        <p:nvPicPr>
          <p:cNvPr id="7" name="Image 1" descr="Lead linked to a customer icon">    </p:cNvPr>
          <p:cNvPicPr>
            <a:picLocks noChangeAspect="1"/>
          </p:cNvPicPr>
          <p:nvPr/>
        </p:nvPicPr>
        <p:blipFill>
          <a:blip r:embed="rId2"/>
          <a:stretch>
            <a:fillRect/>
          </a:stretch>
        </p:blipFill>
        <p:spPr>
          <a:xfrm>
            <a:off x="754380" y="4023360"/>
            <a:ext cx="228600" cy="228600"/>
          </a:xfrm>
          <a:prstGeom prst="rect">
            <a:avLst/>
          </a:prstGeom>
        </p:spPr>
      </p:pic>
      <p:sp>
        <p:nvSpPr>
          <p:cNvPr id="8" name="Text 3"/>
          <p:cNvSpPr txBox="1"/>
          <p:nvPr/>
        </p:nvSpPr>
        <p:spPr>
          <a:xfrm>
            <a:off x="1234440" y="3703320"/>
            <a:ext cx="1645920" cy="868680"/>
          </a:xfrm>
          <a:prstGeom prst="rect">
            <a:avLst/>
          </a:prstGeom>
          <a:noFill/>
          <a:ln/>
        </p:spPr>
        <p:txBody>
          <a:bodyPr wrap="square" lIns="0" tIns="0" rIns="0" bIns="0" rtlCol="0" anchor="ctr"/>
          <a:lstStyle/>
          <a:p>
            <a:pPr algn="l" indent="0" marL="0">
              <a:buNone/>
            </a:pPr>
            <a:r>
              <a:rPr lang="en-US" sz="1400" b="1" dirty="0">
                <a:solidFill>
                  <a:schemeClr val="tx1"/>
                </a:solidFill>
              </a:rPr>
              <a:t>Lead linked to a customer</a:t>
            </a:r>
            <a:endParaRPr lang="en-US" sz="1400" dirty="0"/>
          </a:p>
        </p:txBody>
      </p:sp>
      <p:sp>
        <p:nvSpPr>
          <p:cNvPr id="9" name="Chip Stage tag on every lead"/>
          <p:cNvSpPr/>
          <p:nvPr/>
        </p:nvSpPr>
        <p:spPr>
          <a:xfrm>
            <a:off x="3291840" y="3703320"/>
            <a:ext cx="2560320" cy="868680"/>
          </a:xfrm>
          <a:prstGeom prst="roundRect">
            <a:avLst>
              <a:gd name="adj" fmla="val 12632"/>
            </a:avLst>
          </a:prstGeom>
          <a:solidFill>
            <a:schemeClr val="bg2"/>
          </a:solidFill>
          <a:ln/>
        </p:spPr>
      </p:sp>
      <p:sp>
        <p:nvSpPr>
          <p:cNvPr id="10" name="Stage tag on every lead circle"/>
          <p:cNvSpPr/>
          <p:nvPr/>
        </p:nvSpPr>
        <p:spPr>
          <a:xfrm>
            <a:off x="3474720" y="3909060"/>
            <a:ext cx="457200" cy="457200"/>
          </a:xfrm>
          <a:prstGeom prst="ellipse">
            <a:avLst/>
          </a:prstGeom>
          <a:solidFill>
            <a:schemeClr val="accent4"/>
          </a:solidFill>
          <a:ln/>
        </p:spPr>
      </p:sp>
      <p:pic>
        <p:nvPicPr>
          <p:cNvPr id="11" name="Image 2" descr="Stage tag on every lead icon">    </p:cNvPr>
          <p:cNvPicPr>
            <a:picLocks noChangeAspect="1"/>
          </p:cNvPicPr>
          <p:nvPr/>
        </p:nvPicPr>
        <p:blipFill>
          <a:blip r:embed="rId3"/>
          <a:stretch>
            <a:fillRect/>
          </a:stretch>
        </p:blipFill>
        <p:spPr>
          <a:xfrm>
            <a:off x="3589020" y="4023360"/>
            <a:ext cx="228600" cy="228600"/>
          </a:xfrm>
          <a:prstGeom prst="rect">
            <a:avLst/>
          </a:prstGeom>
        </p:spPr>
      </p:pic>
      <p:sp>
        <p:nvSpPr>
          <p:cNvPr id="12" name="Text 6"/>
          <p:cNvSpPr txBox="1"/>
          <p:nvPr/>
        </p:nvSpPr>
        <p:spPr>
          <a:xfrm>
            <a:off x="4069080" y="3703320"/>
            <a:ext cx="1645920" cy="868680"/>
          </a:xfrm>
          <a:prstGeom prst="rect">
            <a:avLst/>
          </a:prstGeom>
          <a:noFill/>
          <a:ln/>
        </p:spPr>
        <p:txBody>
          <a:bodyPr wrap="square" lIns="0" tIns="0" rIns="0" bIns="0" rtlCol="0" anchor="ctr"/>
          <a:lstStyle/>
          <a:p>
            <a:pPr algn="l" indent="0" marL="0">
              <a:buNone/>
            </a:pPr>
            <a:r>
              <a:rPr lang="en-US" sz="1400" b="1" dirty="0">
                <a:solidFill>
                  <a:schemeClr val="tx1"/>
                </a:solidFill>
              </a:rPr>
              <a:t>Stage tag on every lead</a:t>
            </a:r>
            <a:endParaRPr lang="en-US" sz="1400" dirty="0"/>
          </a:p>
        </p:txBody>
      </p:sp>
      <p:sp>
        <p:nvSpPr>
          <p:cNvPr id="13" name="Chip Value stored in rupees"/>
          <p:cNvSpPr/>
          <p:nvPr/>
        </p:nvSpPr>
        <p:spPr>
          <a:xfrm>
            <a:off x="6126480" y="3703320"/>
            <a:ext cx="2560320" cy="868680"/>
          </a:xfrm>
          <a:prstGeom prst="roundRect">
            <a:avLst>
              <a:gd name="adj" fmla="val 12632"/>
            </a:avLst>
          </a:prstGeom>
          <a:solidFill>
            <a:schemeClr val="bg2"/>
          </a:solidFill>
          <a:ln/>
        </p:spPr>
      </p:sp>
      <p:sp>
        <p:nvSpPr>
          <p:cNvPr id="14" name="Value stored in rupees circle"/>
          <p:cNvSpPr/>
          <p:nvPr/>
        </p:nvSpPr>
        <p:spPr>
          <a:xfrm>
            <a:off x="6309360" y="3909060"/>
            <a:ext cx="457200" cy="457200"/>
          </a:xfrm>
          <a:prstGeom prst="ellipse">
            <a:avLst/>
          </a:prstGeom>
          <a:solidFill>
            <a:schemeClr val="accent2"/>
          </a:solidFill>
          <a:ln/>
        </p:spPr>
      </p:sp>
      <p:pic>
        <p:nvPicPr>
          <p:cNvPr id="15" name="Image 3" descr="Value stored in rupees icon">    </p:cNvPr>
          <p:cNvPicPr>
            <a:picLocks noChangeAspect="1"/>
          </p:cNvPicPr>
          <p:nvPr/>
        </p:nvPicPr>
        <p:blipFill>
          <a:blip r:embed="rId4"/>
          <a:stretch>
            <a:fillRect/>
          </a:stretch>
        </p:blipFill>
        <p:spPr>
          <a:xfrm>
            <a:off x="6423660" y="4023360"/>
            <a:ext cx="228600" cy="228600"/>
          </a:xfrm>
          <a:prstGeom prst="rect">
            <a:avLst/>
          </a:prstGeom>
        </p:spPr>
      </p:pic>
      <p:sp>
        <p:nvSpPr>
          <p:cNvPr id="16" name="Text 9"/>
          <p:cNvSpPr txBox="1"/>
          <p:nvPr/>
        </p:nvSpPr>
        <p:spPr>
          <a:xfrm>
            <a:off x="6903720" y="3703320"/>
            <a:ext cx="1645920" cy="868680"/>
          </a:xfrm>
          <a:prstGeom prst="rect">
            <a:avLst/>
          </a:prstGeom>
          <a:noFill/>
          <a:ln/>
        </p:spPr>
        <p:txBody>
          <a:bodyPr wrap="square" lIns="0" tIns="0" rIns="0" bIns="0" rtlCol="0" anchor="ctr"/>
          <a:lstStyle/>
          <a:p>
            <a:pPr algn="l" indent="0" marL="0">
              <a:buNone/>
            </a:pPr>
            <a:r>
              <a:rPr lang="en-US" sz="1400" b="1" dirty="0">
                <a:solidFill>
                  <a:schemeClr val="tx1"/>
                </a:solidFill>
              </a:rPr>
              <a:t>Value stored in rupees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Sales Pipeline</a:t>
            </a:r>
            <a:endParaRPr lang="en-US" sz="3600" dirty="0"/>
          </a:p>
        </p:txBody>
      </p:sp>
      <p:pic>
        <p:nvPicPr>
          <p:cNvPr id="4" name="Image 0" descr="Pipeline screenshot">    </p:cNvPr>
          <p:cNvPicPr>
            <a:picLocks noChangeAspect="1"/>
          </p:cNvPicPr>
          <p:nvPr/>
        </p:nvPicPr>
        <p:blipFill>
          <a:blip r:embed="rId1"/>
          <a:stretch>
            <a:fillRect/>
          </a:stretch>
        </p:blipFill>
        <p:spPr>
          <a:xfrm>
            <a:off x="457200" y="1143000"/>
            <a:ext cx="7863840" cy="2313432"/>
          </a:xfrm>
          <a:prstGeom prst="rect">
            <a:avLst/>
          </a:prstGeom>
          <a:effectLst>
            <a:outerShdw sx="100000" sy="100000" kx="0" ky="0" algn="bl" rotWithShape="0" blurRad="101600" dist="25400" dir="5400000">
              <a:srgbClr val="000000">
                <a:alpha val="15000"/>
              </a:srgbClr>
            </a:outerShdw>
          </a:effectLst>
        </p:spPr>
      </p:pic>
      <p:sp>
        <p:nvSpPr>
          <p:cNvPr id="5" name="Chip Six stage columns"/>
          <p:cNvSpPr/>
          <p:nvPr/>
        </p:nvSpPr>
        <p:spPr>
          <a:xfrm>
            <a:off x="457200" y="3703320"/>
            <a:ext cx="2560320" cy="868680"/>
          </a:xfrm>
          <a:prstGeom prst="roundRect">
            <a:avLst>
              <a:gd name="adj" fmla="val 12632"/>
            </a:avLst>
          </a:prstGeom>
          <a:solidFill>
            <a:schemeClr val="bg2"/>
          </a:solidFill>
          <a:ln/>
        </p:spPr>
      </p:sp>
      <p:sp>
        <p:nvSpPr>
          <p:cNvPr id="6" name="Six stage columns circle"/>
          <p:cNvSpPr/>
          <p:nvPr/>
        </p:nvSpPr>
        <p:spPr>
          <a:xfrm>
            <a:off x="640080" y="3909060"/>
            <a:ext cx="457200" cy="457200"/>
          </a:xfrm>
          <a:prstGeom prst="ellipse">
            <a:avLst/>
          </a:prstGeom>
          <a:solidFill>
            <a:schemeClr val="accent1"/>
          </a:solidFill>
          <a:ln/>
        </p:spPr>
      </p:sp>
      <p:pic>
        <p:nvPicPr>
          <p:cNvPr id="7" name="Image 1" descr="Six stage columns icon">    </p:cNvPr>
          <p:cNvPicPr>
            <a:picLocks noChangeAspect="1"/>
          </p:cNvPicPr>
          <p:nvPr/>
        </p:nvPicPr>
        <p:blipFill>
          <a:blip r:embed="rId2"/>
          <a:stretch>
            <a:fillRect/>
          </a:stretch>
        </p:blipFill>
        <p:spPr>
          <a:xfrm>
            <a:off x="754380" y="4023360"/>
            <a:ext cx="228600" cy="228600"/>
          </a:xfrm>
          <a:prstGeom prst="rect">
            <a:avLst/>
          </a:prstGeom>
        </p:spPr>
      </p:pic>
      <p:sp>
        <p:nvSpPr>
          <p:cNvPr id="8" name="Text 3"/>
          <p:cNvSpPr txBox="1"/>
          <p:nvPr/>
        </p:nvSpPr>
        <p:spPr>
          <a:xfrm>
            <a:off x="1234440" y="3703320"/>
            <a:ext cx="1645920" cy="868680"/>
          </a:xfrm>
          <a:prstGeom prst="rect">
            <a:avLst/>
          </a:prstGeom>
          <a:noFill/>
          <a:ln/>
        </p:spPr>
        <p:txBody>
          <a:bodyPr wrap="square" lIns="0" tIns="0" rIns="0" bIns="0" rtlCol="0" anchor="ctr"/>
          <a:lstStyle/>
          <a:p>
            <a:pPr algn="l" indent="0" marL="0">
              <a:buNone/>
            </a:pPr>
            <a:r>
              <a:rPr lang="en-US" sz="1400" b="1" dirty="0">
                <a:solidFill>
                  <a:schemeClr val="tx1"/>
                </a:solidFill>
              </a:rPr>
              <a:t>Six stage columns</a:t>
            </a:r>
            <a:endParaRPr lang="en-US" sz="1400" dirty="0"/>
          </a:p>
        </p:txBody>
      </p:sp>
      <p:sp>
        <p:nvSpPr>
          <p:cNvPr id="9" name="Chip Count and value per stage"/>
          <p:cNvSpPr/>
          <p:nvPr/>
        </p:nvSpPr>
        <p:spPr>
          <a:xfrm>
            <a:off x="3291840" y="3703320"/>
            <a:ext cx="2560320" cy="868680"/>
          </a:xfrm>
          <a:prstGeom prst="roundRect">
            <a:avLst>
              <a:gd name="adj" fmla="val 12632"/>
            </a:avLst>
          </a:prstGeom>
          <a:solidFill>
            <a:schemeClr val="bg2"/>
          </a:solidFill>
          <a:ln/>
        </p:spPr>
      </p:sp>
      <p:sp>
        <p:nvSpPr>
          <p:cNvPr id="10" name="Count and value per stage circle"/>
          <p:cNvSpPr/>
          <p:nvPr/>
        </p:nvSpPr>
        <p:spPr>
          <a:xfrm>
            <a:off x="3474720" y="3909060"/>
            <a:ext cx="457200" cy="457200"/>
          </a:xfrm>
          <a:prstGeom prst="ellipse">
            <a:avLst/>
          </a:prstGeom>
          <a:solidFill>
            <a:schemeClr val="accent3"/>
          </a:solidFill>
          <a:ln/>
        </p:spPr>
      </p:sp>
      <p:pic>
        <p:nvPicPr>
          <p:cNvPr id="11" name="Image 2" descr="Count and value per stage icon">    </p:cNvPr>
          <p:cNvPicPr>
            <a:picLocks noChangeAspect="1"/>
          </p:cNvPicPr>
          <p:nvPr/>
        </p:nvPicPr>
        <p:blipFill>
          <a:blip r:embed="rId3"/>
          <a:stretch>
            <a:fillRect/>
          </a:stretch>
        </p:blipFill>
        <p:spPr>
          <a:xfrm>
            <a:off x="3589020" y="4023360"/>
            <a:ext cx="228600" cy="228600"/>
          </a:xfrm>
          <a:prstGeom prst="rect">
            <a:avLst/>
          </a:prstGeom>
        </p:spPr>
      </p:pic>
      <p:sp>
        <p:nvSpPr>
          <p:cNvPr id="12" name="Text 6"/>
          <p:cNvSpPr txBox="1"/>
          <p:nvPr/>
        </p:nvSpPr>
        <p:spPr>
          <a:xfrm>
            <a:off x="4069080" y="3703320"/>
            <a:ext cx="1645920" cy="868680"/>
          </a:xfrm>
          <a:prstGeom prst="rect">
            <a:avLst/>
          </a:prstGeom>
          <a:noFill/>
          <a:ln/>
        </p:spPr>
        <p:txBody>
          <a:bodyPr wrap="square" lIns="0" tIns="0" rIns="0" bIns="0" rtlCol="0" anchor="ctr"/>
          <a:lstStyle/>
          <a:p>
            <a:pPr algn="l" indent="0" marL="0">
              <a:buNone/>
            </a:pPr>
            <a:r>
              <a:rPr lang="en-US" sz="1400" b="1" dirty="0">
                <a:solidFill>
                  <a:schemeClr val="tx1"/>
                </a:solidFill>
              </a:rPr>
              <a:t>Count and value per stage</a:t>
            </a:r>
            <a:endParaRPr lang="en-US" sz="1400" dirty="0"/>
          </a:p>
        </p:txBody>
      </p:sp>
      <p:sp>
        <p:nvSpPr>
          <p:cNvPr id="13" name="Chip Arrow buttons move leads"/>
          <p:cNvSpPr/>
          <p:nvPr/>
        </p:nvSpPr>
        <p:spPr>
          <a:xfrm>
            <a:off x="6126480" y="3703320"/>
            <a:ext cx="2560320" cy="868680"/>
          </a:xfrm>
          <a:prstGeom prst="roundRect">
            <a:avLst>
              <a:gd name="adj" fmla="val 12632"/>
            </a:avLst>
          </a:prstGeom>
          <a:solidFill>
            <a:schemeClr val="bg2"/>
          </a:solidFill>
          <a:ln/>
        </p:spPr>
      </p:sp>
      <p:sp>
        <p:nvSpPr>
          <p:cNvPr id="14" name="Arrow buttons move leads circle"/>
          <p:cNvSpPr/>
          <p:nvPr/>
        </p:nvSpPr>
        <p:spPr>
          <a:xfrm>
            <a:off x="6309360" y="3909060"/>
            <a:ext cx="457200" cy="457200"/>
          </a:xfrm>
          <a:prstGeom prst="ellipse">
            <a:avLst/>
          </a:prstGeom>
          <a:solidFill>
            <a:schemeClr val="accent2"/>
          </a:solidFill>
          <a:ln/>
        </p:spPr>
      </p:sp>
      <p:pic>
        <p:nvPicPr>
          <p:cNvPr id="15" name="Image 3" descr="Arrow buttons move leads icon">    </p:cNvPr>
          <p:cNvPicPr>
            <a:picLocks noChangeAspect="1"/>
          </p:cNvPicPr>
          <p:nvPr/>
        </p:nvPicPr>
        <p:blipFill>
          <a:blip r:embed="rId4"/>
          <a:stretch>
            <a:fillRect/>
          </a:stretch>
        </p:blipFill>
        <p:spPr>
          <a:xfrm>
            <a:off x="6423660" y="4023360"/>
            <a:ext cx="228600" cy="228600"/>
          </a:xfrm>
          <a:prstGeom prst="rect">
            <a:avLst/>
          </a:prstGeom>
        </p:spPr>
      </p:pic>
      <p:sp>
        <p:nvSpPr>
          <p:cNvPr id="16" name="Text 9"/>
          <p:cNvSpPr txBox="1"/>
          <p:nvPr/>
        </p:nvSpPr>
        <p:spPr>
          <a:xfrm>
            <a:off x="6903720" y="3703320"/>
            <a:ext cx="1645920" cy="868680"/>
          </a:xfrm>
          <a:prstGeom prst="rect">
            <a:avLst/>
          </a:prstGeom>
          <a:noFill/>
          <a:ln/>
        </p:spPr>
        <p:txBody>
          <a:bodyPr wrap="square" lIns="0" tIns="0" rIns="0" bIns="0" rtlCol="0" anchor="ctr"/>
          <a:lstStyle/>
          <a:p>
            <a:pPr algn="l" indent="0" marL="0">
              <a:buNone/>
            </a:pPr>
            <a:r>
              <a:rPr lang="en-US" sz="1400" b="1" dirty="0">
                <a:solidFill>
                  <a:schemeClr val="tx1"/>
                </a:solidFill>
              </a:rPr>
              <a:t>Arrow buttons move leads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AI Assistant</a:t>
            </a:r>
            <a:endParaRPr lang="en-US" sz="3600" dirty="0"/>
          </a:p>
        </p:txBody>
      </p:sp>
      <p:sp>
        <p:nvSpPr>
          <p:cNvPr id="4" name="AI step 1"/>
          <p:cNvSpPr/>
          <p:nvPr/>
        </p:nvSpPr>
        <p:spPr>
          <a:xfrm>
            <a:off x="457200" y="1188720"/>
            <a:ext cx="4023360" cy="731520"/>
          </a:xfrm>
          <a:prstGeom prst="roundRect">
            <a:avLst>
              <a:gd name="adj" fmla="val 15000"/>
            </a:avLst>
          </a:prstGeom>
          <a:solidFill>
            <a:schemeClr val="bg2"/>
          </a:solidFill>
          <a:ln/>
        </p:spPr>
      </p:sp>
      <p:sp>
        <p:nvSpPr>
          <p:cNvPr id="5" name="Step 1"/>
          <p:cNvSpPr/>
          <p:nvPr/>
        </p:nvSpPr>
        <p:spPr>
          <a:xfrm>
            <a:off x="594360" y="1298448"/>
            <a:ext cx="512064" cy="512064"/>
          </a:xfrm>
          <a:prstGeom prst="ellipse">
            <a:avLst/>
          </a:prstGeom>
          <a:solidFill>
            <a:schemeClr val="accent1"/>
          </a:solidFill>
          <a:ln/>
        </p:spPr>
      </p:sp>
      <p:sp>
        <p:nvSpPr>
          <p:cNvPr id="6" name="Text 3"/>
          <p:cNvSpPr txBox="1"/>
          <p:nvPr/>
        </p:nvSpPr>
        <p:spPr>
          <a:xfrm>
            <a:off x="594360" y="1298448"/>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280160" y="1188720"/>
            <a:ext cx="3108960" cy="731520"/>
          </a:xfrm>
          <a:prstGeom prst="rect">
            <a:avLst/>
          </a:prstGeom>
          <a:noFill/>
          <a:ln/>
        </p:spPr>
        <p:txBody>
          <a:bodyPr wrap="square" lIns="0" tIns="0" rIns="0" bIns="0" rtlCol="0" anchor="ctr"/>
          <a:lstStyle/>
          <a:p>
            <a:pPr algn="l" indent="0" marL="0">
              <a:buNone/>
            </a:pPr>
            <a:r>
              <a:rPr lang="en-US" sz="1400" dirty="0">
                <a:solidFill>
                  <a:schemeClr val="tx1"/>
                </a:solidFill>
              </a:rPr>
              <a:t>Read live CRM data: counts, stages, revenue, top leads</a:t>
            </a:r>
            <a:endParaRPr lang="en-US" sz="1400" dirty="0"/>
          </a:p>
        </p:txBody>
      </p:sp>
      <p:sp>
        <p:nvSpPr>
          <p:cNvPr id="8" name="AI step 2"/>
          <p:cNvSpPr/>
          <p:nvPr/>
        </p:nvSpPr>
        <p:spPr>
          <a:xfrm>
            <a:off x="457200" y="2057400"/>
            <a:ext cx="4023360" cy="731520"/>
          </a:xfrm>
          <a:prstGeom prst="roundRect">
            <a:avLst>
              <a:gd name="adj" fmla="val 15000"/>
            </a:avLst>
          </a:prstGeom>
          <a:solidFill>
            <a:schemeClr val="bg2"/>
          </a:solidFill>
          <a:ln/>
        </p:spPr>
      </p:sp>
      <p:sp>
        <p:nvSpPr>
          <p:cNvPr id="9" name="Step 2"/>
          <p:cNvSpPr/>
          <p:nvPr/>
        </p:nvSpPr>
        <p:spPr>
          <a:xfrm>
            <a:off x="594360" y="2167128"/>
            <a:ext cx="512064" cy="512064"/>
          </a:xfrm>
          <a:prstGeom prst="ellipse">
            <a:avLst/>
          </a:prstGeom>
          <a:solidFill>
            <a:schemeClr val="accent1"/>
          </a:solidFill>
          <a:ln/>
        </p:spPr>
      </p:sp>
      <p:sp>
        <p:nvSpPr>
          <p:cNvPr id="10" name="Text 7"/>
          <p:cNvSpPr txBox="1"/>
          <p:nvPr/>
        </p:nvSpPr>
        <p:spPr>
          <a:xfrm>
            <a:off x="594360" y="2167128"/>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1280160" y="2057400"/>
            <a:ext cx="3108960" cy="731520"/>
          </a:xfrm>
          <a:prstGeom prst="rect">
            <a:avLst/>
          </a:prstGeom>
          <a:noFill/>
          <a:ln/>
        </p:spPr>
        <p:txBody>
          <a:bodyPr wrap="square" lIns="0" tIns="0" rIns="0" bIns="0" rtlCol="0" anchor="ctr"/>
          <a:lstStyle/>
          <a:p>
            <a:pPr algn="l" indent="0" marL="0">
              <a:buNone/>
            </a:pPr>
            <a:r>
              <a:rPr lang="en-US" sz="1400" dirty="0">
                <a:solidFill>
                  <a:schemeClr val="tx1"/>
                </a:solidFill>
              </a:rPr>
              <a:t>Build a prompt: data summary plus the question</a:t>
            </a:r>
            <a:endParaRPr lang="en-US" sz="1400" dirty="0"/>
          </a:p>
        </p:txBody>
      </p:sp>
      <p:sp>
        <p:nvSpPr>
          <p:cNvPr id="12" name="AI step 3"/>
          <p:cNvSpPr/>
          <p:nvPr/>
        </p:nvSpPr>
        <p:spPr>
          <a:xfrm>
            <a:off x="457200" y="2926080"/>
            <a:ext cx="4023360" cy="731520"/>
          </a:xfrm>
          <a:prstGeom prst="roundRect">
            <a:avLst>
              <a:gd name="adj" fmla="val 15000"/>
            </a:avLst>
          </a:prstGeom>
          <a:solidFill>
            <a:schemeClr val="bg2"/>
          </a:solidFill>
          <a:ln/>
        </p:spPr>
      </p:sp>
      <p:sp>
        <p:nvSpPr>
          <p:cNvPr id="13" name="Step 3"/>
          <p:cNvSpPr/>
          <p:nvPr/>
        </p:nvSpPr>
        <p:spPr>
          <a:xfrm>
            <a:off x="594360" y="3035808"/>
            <a:ext cx="512064" cy="512064"/>
          </a:xfrm>
          <a:prstGeom prst="ellipse">
            <a:avLst/>
          </a:prstGeom>
          <a:solidFill>
            <a:schemeClr val="accent1"/>
          </a:solidFill>
          <a:ln/>
        </p:spPr>
      </p:sp>
      <p:sp>
        <p:nvSpPr>
          <p:cNvPr id="14" name="Text 11"/>
          <p:cNvSpPr txBox="1"/>
          <p:nvPr/>
        </p:nvSpPr>
        <p:spPr>
          <a:xfrm>
            <a:off x="594360" y="3035808"/>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1280160" y="2926080"/>
            <a:ext cx="3108960" cy="731520"/>
          </a:xfrm>
          <a:prstGeom prst="rect">
            <a:avLst/>
          </a:prstGeom>
          <a:noFill/>
          <a:ln/>
        </p:spPr>
        <p:txBody>
          <a:bodyPr wrap="square" lIns="0" tIns="0" rIns="0" bIns="0" rtlCol="0" anchor="ctr"/>
          <a:lstStyle/>
          <a:p>
            <a:pPr algn="l" indent="0" marL="0">
              <a:buNone/>
            </a:pPr>
            <a:r>
              <a:rPr lang="en-US" sz="1400" dirty="0">
                <a:solidFill>
                  <a:schemeClr val="tx1"/>
                </a:solidFill>
              </a:rPr>
              <a:t>Send to Gemini (cloud) or Ollama + Mistral (local)</a:t>
            </a:r>
            <a:endParaRPr lang="en-US" sz="1400" dirty="0"/>
          </a:p>
        </p:txBody>
      </p:sp>
      <p:sp>
        <p:nvSpPr>
          <p:cNvPr id="16" name="AI step 4"/>
          <p:cNvSpPr/>
          <p:nvPr/>
        </p:nvSpPr>
        <p:spPr>
          <a:xfrm>
            <a:off x="457200" y="3794760"/>
            <a:ext cx="4023360" cy="731520"/>
          </a:xfrm>
          <a:prstGeom prst="roundRect">
            <a:avLst>
              <a:gd name="adj" fmla="val 15000"/>
            </a:avLst>
          </a:prstGeom>
          <a:solidFill>
            <a:schemeClr val="bg2"/>
          </a:solidFill>
          <a:ln/>
        </p:spPr>
      </p:sp>
      <p:sp>
        <p:nvSpPr>
          <p:cNvPr id="17" name="Step 4"/>
          <p:cNvSpPr/>
          <p:nvPr/>
        </p:nvSpPr>
        <p:spPr>
          <a:xfrm>
            <a:off x="594360" y="3904488"/>
            <a:ext cx="512064" cy="512064"/>
          </a:xfrm>
          <a:prstGeom prst="ellipse">
            <a:avLst/>
          </a:prstGeom>
          <a:solidFill>
            <a:schemeClr val="accent1"/>
          </a:solidFill>
          <a:ln/>
        </p:spPr>
      </p:sp>
      <p:sp>
        <p:nvSpPr>
          <p:cNvPr id="18" name="Text 15"/>
          <p:cNvSpPr txBox="1"/>
          <p:nvPr/>
        </p:nvSpPr>
        <p:spPr>
          <a:xfrm>
            <a:off x="594360" y="3904488"/>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1280160" y="3794760"/>
            <a:ext cx="3108960" cy="731520"/>
          </a:xfrm>
          <a:prstGeom prst="rect">
            <a:avLst/>
          </a:prstGeom>
          <a:noFill/>
          <a:ln/>
        </p:spPr>
        <p:txBody>
          <a:bodyPr wrap="square" lIns="0" tIns="0" rIns="0" bIns="0" rtlCol="0" anchor="ctr"/>
          <a:lstStyle/>
          <a:p>
            <a:pPr algn="l" indent="0" marL="0">
              <a:buNone/>
            </a:pPr>
            <a:r>
              <a:rPr lang="en-US" sz="1400" dirty="0">
                <a:solidFill>
                  <a:schemeClr val="tx1"/>
                </a:solidFill>
              </a:rPr>
              <a:t>Show the answer as a chat message</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754880" y="1188720"/>
          <a:ext cx="3931920" cy="914400"/>
        </p:xfrm>
        <a:graphic>
          <a:graphicData uri="http://schemas.openxmlformats.org/drawingml/2006/table">
            <a:tbl>
              <a:tblPr/>
              <a:tblGrid>
                <a:gridCol w="1005840"/>
                <a:gridCol w="1188720"/>
                <a:gridCol w="1737360"/>
              </a:tblGrid>
              <a:tr h="457200">
                <a:tc>
                  <a:txBody>
                    <a:bodyPr/>
                    <a:lstStyle/>
                    <a:p>
                      <a:pPr indent="0" marL="0">
                        <a:buNone/>
                      </a:pPr>
                      <a:r>
                        <a:rPr lang="en-US" sz="1400" b="1" dirty="0">
                          <a:solidFill>
                            <a:schemeClr val="bg1"/>
                          </a:solidFill>
                        </a:rPr>
                        <a:t>Aspect</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Gemini</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Ollama</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accent1"/>
                    </a:solidFill>
                  </a:tcPr>
                </a:tc>
              </a:tr>
              <a:tr h="457200">
                <a:tc>
                  <a:txBody>
                    <a:bodyPr/>
                    <a:lstStyle/>
                    <a:p>
                      <a:pPr indent="0" marL="0">
                        <a:buNone/>
                      </a:pPr>
                      <a:r>
                        <a:rPr lang="en-US" sz="1400" dirty="0">
                          <a:solidFill>
                            <a:schemeClr val="tx1"/>
                          </a:solidFill>
                        </a:rPr>
                        <a:t>Speed</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400" dirty="0">
                          <a:solidFill>
                            <a:schemeClr val="tx1"/>
                          </a:solidFill>
                        </a:rPr>
                        <a:t>Fast</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400" dirty="0">
                          <a:solidFill>
                            <a:schemeClr val="tx1"/>
                          </a:solidFill>
                        </a:rPr>
                        <a:t>Hardware-bound</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457200">
                <a:tc>
                  <a:txBody>
                    <a:bodyPr/>
                    <a:lstStyle/>
                    <a:p>
                      <a:pPr indent="0" marL="0">
                        <a:buNone/>
                      </a:pPr>
                      <a:r>
                        <a:rPr lang="en-US" sz="1400" dirty="0">
                          <a:solidFill>
                            <a:schemeClr val="tx1"/>
                          </a:solidFill>
                        </a:rPr>
                        <a:t>Privacy</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400" dirty="0">
                          <a:solidFill>
                            <a:schemeClr val="tx1"/>
                          </a:solidFill>
                        </a:rPr>
                        <a:t>Cloud</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400" dirty="0">
                          <a:solidFill>
                            <a:schemeClr val="tx1"/>
                          </a:solidFill>
                        </a:rPr>
                        <a:t>On-device</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457200">
                <a:tc>
                  <a:txBody>
                    <a:bodyPr/>
                    <a:lstStyle/>
                    <a:p>
                      <a:pPr indent="0" marL="0">
                        <a:buNone/>
                      </a:pPr>
                      <a:r>
                        <a:rPr lang="en-US" sz="1400" dirty="0">
                          <a:solidFill>
                            <a:schemeClr val="tx1"/>
                          </a:solidFill>
                        </a:rPr>
                        <a:t>Internet</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400" dirty="0">
                          <a:solidFill>
                            <a:schemeClr val="tx1"/>
                          </a:solidFill>
                        </a:rPr>
                        <a:t>Needed</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400" dirty="0">
                          <a:solidFill>
                            <a:schemeClr val="tx1"/>
                          </a:solidFill>
                        </a:rPr>
                        <a:t>Not needed</a:t>
                      </a:r>
                      <a:endParaRPr lang="en-US" sz="1400" dirty="0"/>
                    </a:p>
                  </a:txBody>
                  <a:tcPr marL="91440" marR="91440" marT="0" marB="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21" name="Switch note"/>
          <p:cNvSpPr/>
          <p:nvPr/>
        </p:nvSpPr>
        <p:spPr>
          <a:xfrm>
            <a:off x="4754880" y="3291840"/>
            <a:ext cx="3931920" cy="1097280"/>
          </a:xfrm>
          <a:prstGeom prst="roundRect">
            <a:avLst>
              <a:gd name="adj" fmla="val 10000"/>
            </a:avLst>
          </a:prstGeom>
          <a:solidFill>
            <a:schemeClr val="bg2"/>
          </a:solidFill>
          <a:ln/>
        </p:spPr>
      </p:sp>
      <p:sp>
        <p:nvSpPr>
          <p:cNvPr id="22" name="Text 18"/>
          <p:cNvSpPr txBox="1"/>
          <p:nvPr/>
        </p:nvSpPr>
        <p:spPr>
          <a:xfrm>
            <a:off x="4937760" y="3291840"/>
            <a:ext cx="3566160" cy="1097280"/>
          </a:xfrm>
          <a:prstGeom prst="rect">
            <a:avLst/>
          </a:prstGeom>
          <a:noFill/>
          <a:ln/>
        </p:spPr>
        <p:txBody>
          <a:bodyPr wrap="square" lIns="0" tIns="0" rIns="0" bIns="0" rtlCol="0" anchor="ctr"/>
          <a:lstStyle/>
          <a:p>
            <a:pPr algn="l" indent="0" marL="0">
              <a:buNone/>
            </a:pPr>
            <a:r>
              <a:rPr lang="en-US" sz="1400" b="1" dirty="0">
                <a:solidFill>
                  <a:schemeClr val="accent1"/>
                </a:solidFill>
              </a:rPr>
              <a:t>One property switches provider</a:t>
            </a:r>
            <a:endParaRPr lang="en-US" sz="1400" dirty="0"/>
          </a:p>
          <a:p>
            <a:pPr algn="l" indent="0" marL="0">
              <a:buNone/>
            </a:pPr>
            <a:r>
              <a:rPr lang="en-US" sz="1400" dirty="0">
                <a:solidFill>
                  <a:schemeClr val="tx1"/>
                </a:solidFill>
              </a:rPr>
              <a:t>ai.provider = gemini | ollama</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Reports and Testing</a:t>
            </a:r>
            <a:endParaRPr lang="en-US" sz="3600" dirty="0"/>
          </a:p>
        </p:txBody>
      </p:sp>
      <p:sp>
        <p:nvSpPr>
          <p:cNvPr id="4" name="customers.xlsx"/>
          <p:cNvSpPr/>
          <p:nvPr/>
        </p:nvSpPr>
        <p:spPr>
          <a:xfrm>
            <a:off x="457200" y="1188720"/>
            <a:ext cx="4023360" cy="1371600"/>
          </a:xfrm>
          <a:prstGeom prst="roundRect">
            <a:avLst>
              <a:gd name="adj" fmla="val 8000"/>
            </a:avLst>
          </a:prstGeom>
          <a:solidFill>
            <a:schemeClr val="bg2"/>
          </a:solidFill>
          <a:ln/>
        </p:spPr>
      </p:sp>
      <p:sp>
        <p:nvSpPr>
          <p:cNvPr id="5" name="customers.xlsx circle"/>
          <p:cNvSpPr/>
          <p:nvPr/>
        </p:nvSpPr>
        <p:spPr>
          <a:xfrm>
            <a:off x="685800" y="1572768"/>
            <a:ext cx="594360" cy="594360"/>
          </a:xfrm>
          <a:prstGeom prst="ellipse">
            <a:avLst/>
          </a:prstGeom>
          <a:solidFill>
            <a:schemeClr val="accent2"/>
          </a:solidFill>
          <a:ln/>
        </p:spPr>
      </p:sp>
      <p:pic>
        <p:nvPicPr>
          <p:cNvPr id="6" name="Image 0" descr="customers.xlsx icon">    </p:cNvPr>
          <p:cNvPicPr>
            <a:picLocks noChangeAspect="1"/>
          </p:cNvPicPr>
          <p:nvPr/>
        </p:nvPicPr>
        <p:blipFill>
          <a:blip r:embed="rId1"/>
          <a:stretch>
            <a:fillRect/>
          </a:stretch>
        </p:blipFill>
        <p:spPr>
          <a:xfrm>
            <a:off x="834390" y="1721358"/>
            <a:ext cx="297180" cy="297180"/>
          </a:xfrm>
          <a:prstGeom prst="rect">
            <a:avLst/>
          </a:prstGeom>
        </p:spPr>
      </p:pic>
      <p:sp>
        <p:nvSpPr>
          <p:cNvPr id="7" name="Text 3"/>
          <p:cNvSpPr txBox="1"/>
          <p:nvPr/>
        </p:nvSpPr>
        <p:spPr>
          <a:xfrm>
            <a:off x="1508760" y="1463040"/>
            <a:ext cx="2834640" cy="365760"/>
          </a:xfrm>
          <a:prstGeom prst="rect">
            <a:avLst/>
          </a:prstGeom>
          <a:noFill/>
          <a:ln/>
        </p:spPr>
        <p:txBody>
          <a:bodyPr wrap="square" lIns="0" tIns="0" rIns="0" bIns="0" rtlCol="0" anchor="t"/>
          <a:lstStyle/>
          <a:p>
            <a:pPr algn="l" indent="0" marL="0">
              <a:buNone/>
            </a:pPr>
            <a:r>
              <a:rPr lang="en-US" sz="1800" b="1" dirty="0">
                <a:solidFill>
                  <a:schemeClr val="tx2"/>
                </a:solidFill>
              </a:rPr>
              <a:t>customers.xlsx</a:t>
            </a:r>
            <a:endParaRPr lang="en-US" sz="1800" dirty="0"/>
          </a:p>
        </p:txBody>
      </p:sp>
      <p:sp>
        <p:nvSpPr>
          <p:cNvPr id="8" name="Text 4"/>
          <p:cNvSpPr txBox="1"/>
          <p:nvPr/>
        </p:nvSpPr>
        <p:spPr>
          <a:xfrm>
            <a:off x="1508760" y="1874520"/>
            <a:ext cx="2834640" cy="548640"/>
          </a:xfrm>
          <a:prstGeom prst="rect">
            <a:avLst/>
          </a:prstGeom>
          <a:noFill/>
          <a:ln/>
        </p:spPr>
        <p:txBody>
          <a:bodyPr wrap="square" lIns="0" tIns="0" rIns="0" bIns="0" rtlCol="0" anchor="t"/>
          <a:lstStyle/>
          <a:p>
            <a:pPr algn="l" indent="0" marL="0">
              <a:buNone/>
            </a:pPr>
            <a:r>
              <a:rPr lang="en-US" sz="1400" dirty="0">
                <a:solidFill>
                  <a:schemeClr val="tx1"/>
                </a:solidFill>
              </a:rPr>
              <a:t>Apache POI workbook of all customers</a:t>
            </a:r>
            <a:endParaRPr lang="en-US" sz="1400" dirty="0"/>
          </a:p>
        </p:txBody>
      </p:sp>
      <p:sp>
        <p:nvSpPr>
          <p:cNvPr id="9" name="leads.pdf"/>
          <p:cNvSpPr/>
          <p:nvPr/>
        </p:nvSpPr>
        <p:spPr>
          <a:xfrm>
            <a:off x="457200" y="2834640"/>
            <a:ext cx="4023360" cy="1371600"/>
          </a:xfrm>
          <a:prstGeom prst="roundRect">
            <a:avLst>
              <a:gd name="adj" fmla="val 8000"/>
            </a:avLst>
          </a:prstGeom>
          <a:solidFill>
            <a:schemeClr val="bg2"/>
          </a:solidFill>
          <a:ln/>
        </p:spPr>
      </p:sp>
      <p:sp>
        <p:nvSpPr>
          <p:cNvPr id="10" name="leads.pdf circle"/>
          <p:cNvSpPr/>
          <p:nvPr/>
        </p:nvSpPr>
        <p:spPr>
          <a:xfrm>
            <a:off x="685800" y="3218688"/>
            <a:ext cx="594360" cy="594360"/>
          </a:xfrm>
          <a:prstGeom prst="ellipse">
            <a:avLst/>
          </a:prstGeom>
          <a:solidFill>
            <a:schemeClr val="accent6"/>
          </a:solidFill>
          <a:ln/>
        </p:spPr>
      </p:sp>
      <p:pic>
        <p:nvPicPr>
          <p:cNvPr id="11" name="Image 1" descr="leads.pdf icon">    </p:cNvPr>
          <p:cNvPicPr>
            <a:picLocks noChangeAspect="1"/>
          </p:cNvPicPr>
          <p:nvPr/>
        </p:nvPicPr>
        <p:blipFill>
          <a:blip r:embed="rId2"/>
          <a:stretch>
            <a:fillRect/>
          </a:stretch>
        </p:blipFill>
        <p:spPr>
          <a:xfrm>
            <a:off x="834390" y="3367278"/>
            <a:ext cx="297180" cy="297180"/>
          </a:xfrm>
          <a:prstGeom prst="rect">
            <a:avLst/>
          </a:prstGeom>
        </p:spPr>
      </p:pic>
      <p:sp>
        <p:nvSpPr>
          <p:cNvPr id="12" name="Text 7"/>
          <p:cNvSpPr txBox="1"/>
          <p:nvPr/>
        </p:nvSpPr>
        <p:spPr>
          <a:xfrm>
            <a:off x="1508760" y="3108960"/>
            <a:ext cx="2834640" cy="365760"/>
          </a:xfrm>
          <a:prstGeom prst="rect">
            <a:avLst/>
          </a:prstGeom>
          <a:noFill/>
          <a:ln/>
        </p:spPr>
        <p:txBody>
          <a:bodyPr wrap="square" lIns="0" tIns="0" rIns="0" bIns="0" rtlCol="0" anchor="t"/>
          <a:lstStyle/>
          <a:p>
            <a:pPr algn="l" indent="0" marL="0">
              <a:buNone/>
            </a:pPr>
            <a:r>
              <a:rPr lang="en-US" sz="1800" b="1" dirty="0">
                <a:solidFill>
                  <a:schemeClr val="tx2"/>
                </a:solidFill>
              </a:rPr>
              <a:t>leads.pdf</a:t>
            </a:r>
            <a:endParaRPr lang="en-US" sz="1800" dirty="0"/>
          </a:p>
        </p:txBody>
      </p:sp>
      <p:sp>
        <p:nvSpPr>
          <p:cNvPr id="13" name="Text 8"/>
          <p:cNvSpPr txBox="1"/>
          <p:nvPr/>
        </p:nvSpPr>
        <p:spPr>
          <a:xfrm>
            <a:off x="1508760" y="3520440"/>
            <a:ext cx="2834640" cy="548640"/>
          </a:xfrm>
          <a:prstGeom prst="rect">
            <a:avLst/>
          </a:prstGeom>
          <a:noFill/>
          <a:ln/>
        </p:spPr>
        <p:txBody>
          <a:bodyPr wrap="square" lIns="0" tIns="0" rIns="0" bIns="0" rtlCol="0" anchor="t"/>
          <a:lstStyle/>
          <a:p>
            <a:pPr algn="l" indent="0" marL="0">
              <a:buNone/>
            </a:pPr>
            <a:r>
              <a:rPr lang="en-US" sz="1400" dirty="0">
                <a:solidFill>
                  <a:schemeClr val="tx1"/>
                </a:solidFill>
              </a:rPr>
              <a:t>OpenPDF table of all leads</a:t>
            </a:r>
            <a:endParaRPr lang="en-US" sz="1400" dirty="0"/>
          </a:p>
        </p:txBody>
      </p:sp>
      <p:sp>
        <p:nvSpPr>
          <p:cNvPr id="14" name="Testing"/>
          <p:cNvSpPr/>
          <p:nvPr/>
        </p:nvSpPr>
        <p:spPr>
          <a:xfrm>
            <a:off x="4754880" y="1188720"/>
            <a:ext cx="3931920" cy="3017520"/>
          </a:xfrm>
          <a:prstGeom prst="roundRect">
            <a:avLst>
              <a:gd name="adj" fmla="val 3636"/>
            </a:avLst>
          </a:prstGeom>
          <a:solidFill>
            <a:schemeClr val="bg2"/>
          </a:solidFill>
          <a:ln/>
        </p:spPr>
      </p:sp>
      <p:sp>
        <p:nvSpPr>
          <p:cNvPr id="15" name="Text 10"/>
          <p:cNvSpPr txBox="1"/>
          <p:nvPr/>
        </p:nvSpPr>
        <p:spPr>
          <a:xfrm>
            <a:off x="4983480" y="1280160"/>
            <a:ext cx="1371600" cy="822960"/>
          </a:xfrm>
          <a:prstGeom prst="rect">
            <a:avLst/>
          </a:prstGeom>
          <a:noFill/>
          <a:ln/>
        </p:spPr>
        <p:txBody>
          <a:bodyPr wrap="square" lIns="0" tIns="0" rIns="0" bIns="0" rtlCol="0" anchor="ctr"/>
          <a:lstStyle/>
          <a:p>
            <a:pPr algn="l" indent="0" marL="0">
              <a:buNone/>
            </a:pPr>
            <a:r>
              <a:rPr lang="en-US" sz="5400" b="1" dirty="0">
                <a:solidFill>
                  <a:schemeClr val="accent1"/>
                </a:solidFill>
              </a:rPr>
              <a:t>13</a:t>
            </a:r>
            <a:endParaRPr lang="en-US" sz="5400" dirty="0"/>
          </a:p>
        </p:txBody>
      </p:sp>
      <p:sp>
        <p:nvSpPr>
          <p:cNvPr id="16" name="Text 11"/>
          <p:cNvSpPr txBox="1"/>
          <p:nvPr/>
        </p:nvSpPr>
        <p:spPr>
          <a:xfrm>
            <a:off x="6355080" y="1280160"/>
            <a:ext cx="2194560" cy="822960"/>
          </a:xfrm>
          <a:prstGeom prst="rect">
            <a:avLst/>
          </a:prstGeom>
          <a:noFill/>
          <a:ln/>
        </p:spPr>
        <p:txBody>
          <a:bodyPr wrap="square" lIns="0" tIns="0" rIns="0" bIns="0" rtlCol="0" anchor="ctr"/>
          <a:lstStyle/>
          <a:p>
            <a:pPr algn="l" indent="0" marL="0">
              <a:buNone/>
            </a:pPr>
            <a:r>
              <a:rPr lang="en-US" sz="1800" b="1" dirty="0">
                <a:solidFill>
                  <a:schemeClr val="tx2"/>
                </a:solidFill>
              </a:rPr>
              <a:t>functional test cases</a:t>
            </a:r>
            <a:endParaRPr lang="en-US" sz="1800" dirty="0"/>
          </a:p>
        </p:txBody>
      </p:sp>
      <p:sp>
        <p:nvSpPr>
          <p:cNvPr id="17" name="Text 12"/>
          <p:cNvSpPr txBox="1"/>
          <p:nvPr/>
        </p:nvSpPr>
        <p:spPr>
          <a:xfrm>
            <a:off x="4983480" y="2240280"/>
            <a:ext cx="3520440" cy="1828800"/>
          </a:xfrm>
          <a:prstGeom prst="rect">
            <a:avLst/>
          </a:prstGeom>
          <a:noFill/>
          <a:ln/>
        </p:spPr>
        <p:txBody>
          <a:bodyPr wrap="square" lIns="0" tIns="0" rIns="0" bIns="0" rtlCol="0" anchor="t"/>
          <a:lstStyle/>
          <a:p>
            <a:pPr algn="l" marL="342900" indent="-342900">
              <a:spcAft>
                <a:spcPts val="400"/>
              </a:spcAft>
              <a:buSzPct val="100000"/>
              <a:buChar char="•"/>
            </a:pPr>
            <a:r>
              <a:rPr lang="en-US" sz="1400" dirty="0">
                <a:solidFill>
                  <a:schemeClr val="tx1"/>
                </a:solidFill>
              </a:rPr>
              <a:t>Login and token checks</a:t>
            </a:r>
            <a:endParaRPr lang="en-US" sz="1400" dirty="0"/>
          </a:p>
          <a:p>
            <a:pPr algn="l" marL="342900" indent="-342900">
              <a:spcAft>
                <a:spcPts val="400"/>
              </a:spcAft>
              <a:buSzPct val="100000"/>
              <a:buChar char="•"/>
            </a:pPr>
            <a:r>
              <a:rPr lang="en-US" sz="1400" dirty="0">
                <a:solidFill>
                  <a:schemeClr val="tx1"/>
                </a:solidFill>
              </a:rPr>
              <a:t>Customer and lead CRUD</a:t>
            </a:r>
            <a:endParaRPr lang="en-US" sz="1400" dirty="0"/>
          </a:p>
          <a:p>
            <a:pPr algn="l" marL="342900" indent="-342900">
              <a:spcAft>
                <a:spcPts val="400"/>
              </a:spcAft>
              <a:buSzPct val="100000"/>
              <a:buChar char="•"/>
            </a:pPr>
            <a:r>
              <a:rPr lang="en-US" sz="1400" dirty="0">
                <a:solidFill>
                  <a:schemeClr val="tx1"/>
                </a:solidFill>
              </a:rPr>
              <a:t>Pipeline stage moves</a:t>
            </a:r>
            <a:endParaRPr lang="en-US" sz="1400" dirty="0"/>
          </a:p>
          <a:p>
            <a:pPr algn="l" marL="342900" indent="-342900">
              <a:spcAft>
                <a:spcPts val="400"/>
              </a:spcAft>
              <a:buSzPct val="100000"/>
              <a:buChar char="•"/>
            </a:pPr>
            <a:r>
              <a:rPr lang="en-US" sz="1400" dirty="0">
                <a:solidFill>
                  <a:schemeClr val="tx1"/>
                </a:solidFill>
              </a:rPr>
              <a:t>Dashboard totals</a:t>
            </a:r>
            <a:endParaRPr lang="en-US" sz="1400" dirty="0"/>
          </a:p>
          <a:p>
            <a:pPr algn="l" marL="342900" indent="-342900">
              <a:spcAft>
                <a:spcPts val="400"/>
              </a:spcAft>
              <a:buSzPct val="100000"/>
              <a:buChar char="•"/>
            </a:pPr>
            <a:r>
              <a:rPr lang="en-US" sz="1400" dirty="0">
                <a:solidFill>
                  <a:schemeClr val="tx1"/>
                </a:solidFill>
              </a:rPr>
              <a:t>AI answers and error handling</a:t>
            </a:r>
            <a:endParaRPr lang="en-US" sz="1400" dirty="0"/>
          </a:p>
          <a:p>
            <a:pPr algn="l" marL="342900" indent="-342900">
              <a:spcAft>
                <a:spcPts val="400"/>
              </a:spcAft>
              <a:buSzPct val="100000"/>
              <a:buChar char="•"/>
            </a:pPr>
            <a:r>
              <a:rPr lang="en-US" sz="1400" dirty="0">
                <a:solidFill>
                  <a:schemeClr val="tx1"/>
                </a:solidFill>
              </a:rPr>
              <a:t>Excel and PDF downloads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600" b="1" dirty="0">
                <a:solidFill>
                  <a:schemeClr val="bg1"/>
                </a:solidFill>
              </a:rPr>
              <a:t>Conclusion and Future Work</a:t>
            </a:r>
            <a:endParaRPr lang="en-US" sz="3600" dirty="0"/>
          </a:p>
        </p:txBody>
      </p:sp>
      <p:sp>
        <p:nvSpPr>
          <p:cNvPr id="4" name="Conclusion panel"/>
          <p:cNvSpPr/>
          <p:nvPr/>
        </p:nvSpPr>
        <p:spPr>
          <a:xfrm>
            <a:off x="457200" y="1188720"/>
            <a:ext cx="3931920" cy="3383280"/>
          </a:xfrm>
          <a:prstGeom prst="roundRect">
            <a:avLst>
              <a:gd name="adj" fmla="val 3243"/>
            </a:avLst>
          </a:prstGeom>
          <a:solidFill>
            <a:schemeClr val="accent1">
              <a:alpha val="45000"/>
            </a:schemeClr>
          </a:solidFill>
          <a:ln/>
        </p:spPr>
      </p:sp>
      <p:sp>
        <p:nvSpPr>
          <p:cNvPr id="5" name="Text 2"/>
          <p:cNvSpPr txBox="1"/>
          <p:nvPr/>
        </p:nvSpPr>
        <p:spPr>
          <a:xfrm>
            <a:off x="731520" y="1371600"/>
            <a:ext cx="3383280" cy="457200"/>
          </a:xfrm>
          <a:prstGeom prst="rect">
            <a:avLst/>
          </a:prstGeom>
          <a:noFill/>
          <a:ln/>
        </p:spPr>
        <p:txBody>
          <a:bodyPr wrap="square" lIns="0" tIns="0" rIns="0" bIns="0" rtlCol="0" anchor="t"/>
          <a:lstStyle/>
          <a:p>
            <a:pPr algn="l" indent="0" marL="0">
              <a:buNone/>
            </a:pPr>
            <a:r>
              <a:rPr lang="en-US" sz="2200" b="1" dirty="0">
                <a:solidFill>
                  <a:schemeClr val="bg1"/>
                </a:solidFill>
              </a:rPr>
              <a:t>Conclusion</a:t>
            </a:r>
            <a:endParaRPr lang="en-US" sz="2200" dirty="0"/>
          </a:p>
        </p:txBody>
      </p:sp>
      <p:sp>
        <p:nvSpPr>
          <p:cNvPr id="6" name="Text 3"/>
          <p:cNvSpPr txBox="1"/>
          <p:nvPr/>
        </p:nvSpPr>
        <p:spPr>
          <a:xfrm>
            <a:off x="731520" y="1965960"/>
            <a:ext cx="3383280" cy="246888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bg1"/>
                </a:solidFill>
              </a:rPr>
              <a:t>One secure place for customers, leads and revenue</a:t>
            </a:r>
            <a:endParaRPr lang="en-US" sz="1600" dirty="0"/>
          </a:p>
          <a:p>
            <a:pPr algn="l" marL="342900" indent="-342900">
              <a:spcAft>
                <a:spcPts val="800"/>
              </a:spcAft>
              <a:buSzPct val="100000"/>
              <a:buChar char="•"/>
            </a:pPr>
            <a:r>
              <a:rPr lang="en-US" sz="1600" dirty="0">
                <a:solidFill>
                  <a:schemeClr val="bg1"/>
                </a:solidFill>
              </a:rPr>
              <a:t>AI answers with a choice of speed (Gemini) or privacy (Ollama)</a:t>
            </a:r>
            <a:endParaRPr lang="en-US" sz="1600" dirty="0"/>
          </a:p>
          <a:p>
            <a:pPr algn="l" marL="342900" indent="-342900">
              <a:spcAft>
                <a:spcPts val="800"/>
              </a:spcAft>
              <a:buSzPct val="100000"/>
              <a:buChar char="•"/>
            </a:pPr>
            <a:r>
              <a:rPr lang="en-US" sz="1600" dirty="0">
                <a:solidFill>
                  <a:schemeClr val="bg1"/>
                </a:solidFill>
              </a:rPr>
              <a:t>Layered, configurable design that is easy to extend</a:t>
            </a:r>
            <a:endParaRPr lang="en-US" sz="1600" dirty="0"/>
          </a:p>
        </p:txBody>
      </p:sp>
      <p:sp>
        <p:nvSpPr>
          <p:cNvPr id="7" name="Future work panel"/>
          <p:cNvSpPr/>
          <p:nvPr/>
        </p:nvSpPr>
        <p:spPr>
          <a:xfrm>
            <a:off x="4754880" y="1188720"/>
            <a:ext cx="3931920" cy="3383280"/>
          </a:xfrm>
          <a:prstGeom prst="roundRect">
            <a:avLst>
              <a:gd name="adj" fmla="val 3243"/>
            </a:avLst>
          </a:prstGeom>
          <a:solidFill>
            <a:schemeClr val="accent1">
              <a:alpha val="45000"/>
            </a:schemeClr>
          </a:solidFill>
          <a:ln/>
        </p:spPr>
      </p:sp>
      <p:sp>
        <p:nvSpPr>
          <p:cNvPr id="8" name="Text 5"/>
          <p:cNvSpPr txBox="1"/>
          <p:nvPr/>
        </p:nvSpPr>
        <p:spPr>
          <a:xfrm>
            <a:off x="5029200" y="1371600"/>
            <a:ext cx="3383280" cy="457200"/>
          </a:xfrm>
          <a:prstGeom prst="rect">
            <a:avLst/>
          </a:prstGeom>
          <a:noFill/>
          <a:ln/>
        </p:spPr>
        <p:txBody>
          <a:bodyPr wrap="square" lIns="0" tIns="0" rIns="0" bIns="0" rtlCol="0" anchor="t"/>
          <a:lstStyle/>
          <a:p>
            <a:pPr algn="l" indent="0" marL="0">
              <a:buNone/>
            </a:pPr>
            <a:r>
              <a:rPr lang="en-US" sz="2200" b="1" dirty="0">
                <a:solidFill>
                  <a:schemeClr val="bg1"/>
                </a:solidFill>
              </a:rPr>
              <a:t>Future work</a:t>
            </a:r>
            <a:endParaRPr lang="en-US" sz="2200" dirty="0"/>
          </a:p>
        </p:txBody>
      </p:sp>
      <p:sp>
        <p:nvSpPr>
          <p:cNvPr id="9" name="Text 6"/>
          <p:cNvSpPr txBox="1"/>
          <p:nvPr/>
        </p:nvSpPr>
        <p:spPr>
          <a:xfrm>
            <a:off x="5029200" y="1965960"/>
            <a:ext cx="3383280" cy="246888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bg1"/>
                </a:solidFill>
              </a:rPr>
              <a:t>Role-based access control</a:t>
            </a:r>
            <a:endParaRPr lang="en-US" sz="1600" dirty="0"/>
          </a:p>
          <a:p>
            <a:pPr algn="l" marL="342900" indent="-342900">
              <a:spcAft>
                <a:spcPts val="800"/>
              </a:spcAft>
              <a:buSzPct val="100000"/>
              <a:buChar char="•"/>
            </a:pPr>
            <a:r>
              <a:rPr lang="en-US" sz="1600" dirty="0">
                <a:solidFill>
                  <a:schemeClr val="bg1"/>
                </a:solidFill>
              </a:rPr>
              <a:t>Drag-and-drop pipeline</a:t>
            </a:r>
            <a:endParaRPr lang="en-US" sz="1600" dirty="0"/>
          </a:p>
          <a:p>
            <a:pPr algn="l" marL="342900" indent="-342900">
              <a:spcAft>
                <a:spcPts val="800"/>
              </a:spcAft>
              <a:buSzPct val="100000"/>
              <a:buChar char="•"/>
            </a:pPr>
            <a:r>
              <a:rPr lang="en-US" sz="1600" dirty="0">
                <a:solidFill>
                  <a:schemeClr val="bg1"/>
                </a:solidFill>
              </a:rPr>
              <a:t>Email and SMS follow-ups</a:t>
            </a:r>
            <a:endParaRPr lang="en-US" sz="1600" dirty="0"/>
          </a:p>
          <a:p>
            <a:pPr algn="l" marL="342900" indent="-342900">
              <a:spcAft>
                <a:spcPts val="800"/>
              </a:spcAft>
              <a:buSzPct val="100000"/>
              <a:buChar char="•"/>
            </a:pPr>
            <a:r>
              <a:rPr lang="en-US" sz="1600" dirty="0">
                <a:solidFill>
                  <a:schemeClr val="bg1"/>
                </a:solidFill>
              </a:rPr>
              <a:t>Lead scoring and sales forecasting</a:t>
            </a:r>
            <a:endParaRPr lang="en-US" sz="1600" dirty="0"/>
          </a:p>
          <a:p>
            <a:pPr algn="l" marL="342900" indent="-342900">
              <a:spcAft>
                <a:spcPts val="800"/>
              </a:spcAft>
              <a:buSzPct val="100000"/>
              <a:buChar char="•"/>
            </a:pPr>
            <a:r>
              <a:rPr lang="en-US" sz="1600" dirty="0">
                <a:solidFill>
                  <a:schemeClr val="bg1"/>
                </a:solidFill>
              </a:rPr>
              <a:t>Docker and cloud deployment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6309360" cy="1737360"/>
          </a:xfrm>
          <a:prstGeom prst="rect">
            <a:avLst/>
          </a:prstGeom>
          <a:noFill/>
          <a:ln/>
        </p:spPr>
        <p:txBody>
          <a:bodyPr wrap="square" lIns="0" tIns="0" rIns="0" bIns="0" rtlCol="0" anchor="t"/>
          <a:lstStyle/>
          <a:p>
            <a:pPr algn="l" indent="0" marL="0">
              <a:buNone/>
            </a:pPr>
            <a:r>
              <a:rPr lang="en-US" sz="4000" b="1" dirty="0">
                <a:solidFill>
                  <a:schemeClr val="bg1"/>
                </a:solidFill>
              </a:rPr>
              <a:t>Thank You</a:t>
            </a:r>
            <a:endParaRPr lang="en-US" sz="4000" dirty="0"/>
          </a:p>
        </p:txBody>
      </p:sp>
      <p:sp>
        <p:nvSpPr>
          <p:cNvPr id="4" name="Text 1"/>
          <p:cNvSpPr txBox="1"/>
          <p:nvPr/>
        </p:nvSpPr>
        <p:spPr>
          <a:xfrm>
            <a:off x="548640" y="2011680"/>
            <a:ext cx="6309360" cy="548640"/>
          </a:xfrm>
          <a:prstGeom prst="rect">
            <a:avLst/>
          </a:prstGeom>
          <a:noFill/>
          <a:ln/>
        </p:spPr>
        <p:txBody>
          <a:bodyPr wrap="square" lIns="0" tIns="0" rIns="0" bIns="0" rtlCol="0" anchor="t"/>
          <a:lstStyle/>
          <a:p>
            <a:pPr algn="l" indent="0" marL="0">
              <a:buNone/>
            </a:pPr>
            <a:r>
              <a:rPr lang="en-US" sz="2800" dirty="0">
                <a:solidFill>
                  <a:schemeClr val="bg1"/>
                </a:solidFill>
              </a:rPr>
              <a:t>Questions?</a:t>
            </a:r>
            <a:endParaRPr lang="en-US" sz="2800" dirty="0"/>
          </a:p>
        </p:txBody>
      </p:sp>
      <p:sp>
        <p:nvSpPr>
          <p:cNvPr id="5" name="Text 2"/>
          <p:cNvSpPr txBox="1"/>
          <p:nvPr/>
        </p:nvSpPr>
        <p:spPr>
          <a:xfrm>
            <a:off x="548640" y="2926080"/>
            <a:ext cx="6309360" cy="365760"/>
          </a:xfrm>
          <a:prstGeom prst="rect">
            <a:avLst/>
          </a:prstGeom>
          <a:noFill/>
          <a:ln/>
        </p:spPr>
        <p:txBody>
          <a:bodyPr wrap="square" lIns="0" tIns="0" rIns="0" bIns="0" rtlCol="0" anchor="t"/>
          <a:lstStyle/>
          <a:p>
            <a:pPr algn="l" indent="0" marL="0">
              <a:buNone/>
            </a:pPr>
            <a:r>
              <a:rPr lang="en-US" sz="1600" b="1" dirty="0">
                <a:solidFill>
                  <a:schemeClr val="bg1"/>
                </a:solidFill>
              </a:rPr>
              <a:t>DARSNA S  |  810023104001</a:t>
            </a:r>
            <a:endParaRPr lang="en-US" sz="1600" dirty="0"/>
          </a:p>
        </p:txBody>
      </p:sp>
      <p:sp>
        <p:nvSpPr>
          <p:cNvPr id="6" name="Motif 0 circle"/>
          <p:cNvSpPr/>
          <p:nvPr/>
        </p:nvSpPr>
        <p:spPr>
          <a:xfrm>
            <a:off x="7498080" y="822960"/>
            <a:ext cx="1005840" cy="1005840"/>
          </a:xfrm>
          <a:prstGeom prst="ellipse">
            <a:avLst/>
          </a:prstGeom>
          <a:solidFill>
            <a:schemeClr val="accent1"/>
          </a:solidFill>
          <a:ln/>
        </p:spPr>
      </p:sp>
      <p:pic>
        <p:nvPicPr>
          <p:cNvPr id="7" name="Image 0" descr="Motif 0 icon">    </p:cNvPr>
          <p:cNvPicPr>
            <a:picLocks noChangeAspect="1"/>
          </p:cNvPicPr>
          <p:nvPr/>
        </p:nvPicPr>
        <p:blipFill>
          <a:blip r:embed="rId1"/>
          <a:stretch>
            <a:fillRect/>
          </a:stretch>
        </p:blipFill>
        <p:spPr>
          <a:xfrm>
            <a:off x="7749540" y="1074420"/>
            <a:ext cx="502920" cy="502920"/>
          </a:xfrm>
          <a:prstGeom prst="rect">
            <a:avLst/>
          </a:prstGeom>
        </p:spPr>
      </p:pic>
      <p:sp>
        <p:nvSpPr>
          <p:cNvPr id="8" name="Motif 1 circle"/>
          <p:cNvSpPr/>
          <p:nvPr/>
        </p:nvSpPr>
        <p:spPr>
          <a:xfrm>
            <a:off x="7498080" y="2194560"/>
            <a:ext cx="1005840" cy="1005840"/>
          </a:xfrm>
          <a:prstGeom prst="ellipse">
            <a:avLst/>
          </a:prstGeom>
          <a:solidFill>
            <a:schemeClr val="accent2"/>
          </a:solidFill>
          <a:ln/>
        </p:spPr>
      </p:sp>
      <p:pic>
        <p:nvPicPr>
          <p:cNvPr id="9" name="Image 1" descr="Motif 1 icon">    </p:cNvPr>
          <p:cNvPicPr>
            <a:picLocks noChangeAspect="1"/>
          </p:cNvPicPr>
          <p:nvPr/>
        </p:nvPicPr>
        <p:blipFill>
          <a:blip r:embed="rId2"/>
          <a:stretch>
            <a:fillRect/>
          </a:stretch>
        </p:blipFill>
        <p:spPr>
          <a:xfrm>
            <a:off x="7749540" y="2446020"/>
            <a:ext cx="502920" cy="502920"/>
          </a:xfrm>
          <a:prstGeom prst="rect">
            <a:avLst/>
          </a:prstGeom>
        </p:spPr>
      </p:pic>
      <p:sp>
        <p:nvSpPr>
          <p:cNvPr id="10" name="Motif 2 circle"/>
          <p:cNvSpPr/>
          <p:nvPr/>
        </p:nvSpPr>
        <p:spPr>
          <a:xfrm>
            <a:off x="7498080" y="3566160"/>
            <a:ext cx="1005840" cy="1005840"/>
          </a:xfrm>
          <a:prstGeom prst="ellipse">
            <a:avLst/>
          </a:prstGeom>
          <a:solidFill>
            <a:schemeClr val="accent4"/>
          </a:solidFill>
          <a:ln/>
        </p:spPr>
      </p:sp>
      <p:pic>
        <p:nvPicPr>
          <p:cNvPr id="11" name="Image 2" descr="Motif 2 icon">    </p:cNvPr>
          <p:cNvPicPr>
            <a:picLocks noChangeAspect="1"/>
          </p:cNvPicPr>
          <p:nvPr/>
        </p:nvPicPr>
        <p:blipFill>
          <a:blip r:embed="rId3"/>
          <a:stretch>
            <a:fillRect/>
          </a:stretch>
        </p:blipFill>
        <p:spPr>
          <a:xfrm>
            <a:off x="7749540" y="3817620"/>
            <a:ext cx="502920" cy="502920"/>
          </a:xfrm>
          <a:prstGeom prst="rect">
            <a:avLst/>
          </a:prstGeom>
        </p:spPr>
      </p:pic>
    </p:spTree>
  </p:cSld>
  <p:clrMapOvr>
    <a:masterClrMapping/>
  </p:clrMapOvr>
</p:sld>
</file>

<file path=ppt/theme/theme1.xml><?xml version="1.0" encoding="utf-8"?>
<a:theme xmlns:a="http://schemas.openxmlformats.org/drawingml/2006/main" name="CRM Indigo">
  <a:themeElements>
    <a:clrScheme name="CRM Indigo">
      <a:dk1>
        <a:srgbClr val="111827"/>
      </a:dk1>
      <a:lt1>
        <a:srgbClr val="FFFFFF"/>
      </a:lt1>
      <a:dk2>
        <a:srgbClr val="1E1B4B"/>
      </a:dk2>
      <a:lt2>
        <a:srgbClr val="F3F4F6"/>
      </a:lt2>
      <a:accent1>
        <a:srgbClr val="4F46E5"/>
      </a:accent1>
      <a:accent2>
        <a:srgbClr val="10B981"/>
      </a:accent2>
      <a:accent3>
        <a:srgbClr val="F59E0B"/>
      </a:accent3>
      <a:accent4>
        <a:srgbClr val="EC4899"/>
      </a:accent4>
      <a:accent5>
        <a:srgbClr val="06B6D4"/>
      </a:accent5>
      <a:accent6>
        <a:srgbClr val="EF4444"/>
      </a:accent6>
      <a:hlink>
        <a:srgbClr val="4F46E5"/>
      </a:hlink>
      <a:folHlink>
        <a:srgbClr val="6B7280"/>
      </a:folHlink>
    </a:clrScheme>
    <a:fontScheme name="CRM Indig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Powered CRM Sales Management System</dc:title>
  <dc:subject>PptxGenJS Presentation</dc:subject>
  <dc:creator>DARSNA S</dc:creator>
  <cp:lastModifiedBy>DARSNA S</cp:lastModifiedBy>
  <cp:revision>1</cp:revision>
  <dcterms:created xsi:type="dcterms:W3CDTF">2026-10-25T04:57:02Z</dcterms:created>
  <dcterms:modified xsi:type="dcterms:W3CDTF">2026-10-25T04:57:02Z</dcterms:modified>
</cp:coreProperties>
</file>